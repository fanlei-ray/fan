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老师好，我今天汇报的是 OpenArm 视觉与上位机联调项目，我在课程项目中主要负责上位机的设计、实现和集成。当前阶段的结论是：仿真侧已经打通视觉、上位机和任务执行闭环；真机侧已经具备观察与诊断能力，但为了人员和设备安全，运动控制仍然保持闭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我的工作不只是做一个显示窗口，而是给视觉、仿真和电控提供同一个上位机入口。界面层负责显示相机画面、检测框、任务状态和日志；适配层让离线回放、MuJoCo 和真机视觉可以替换接入；安全层再根据坐标有效性、目标时效、工作空间和运行模式判断是否允许执行。这样做的好处是，后续视觉或电控接口变化时，不需要把整套上位机推倒重写。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系统结构可以从左向右理解：数据先来自回放文件、MuJoCo 相机或 RealSense 与 YOLO，再被转换成统一的检测消息和任务状态，最后进入上位机的显示、安全校验、状态机和日志模块。三种模式共用一套界面和核心逻辑，但执行权限不同：MuJoCo 可以执行已经验证的动作，真机视觉目前只观察，USART10 目前只读。这里最重要的原则是，看见目标不等于允许机械臂运动，必须先满足坐标、时效、工作空间和接口完备度等条件。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下面先演示仿真上位机。启动时先运行 MuJoCo 视觉桥，再运行仿真上位机；虚拟相机持续输出 640 乘 480 的 RGB 画面，上位机会显示橙色方块的检测框、置信度和换算后的 base_link 坐标。确认任务后，界面会依次回传 PLANNING、EXECUTING 和 SUCCEEDED 状态，而且机械臂运动期间相机中间帧持续刷新。这里的目标位置来自 MuJoCo 的 RGB 渲染和视觉反投影，没有直接读取物体 body 坐标来假装视觉识别。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接下来是真机侧上位机能力。视觉接口已经兼容视觉组的 robot_state WebSocket，可以接收实时 JPEG、类别、像素中心和深度，并处理心跳、超时、断线重连和消息队列限流。电控侧已经根据同学提供的资料实现 USART10 的 24 字节编解码与流解析，录入 J1 到 J7 的 CAN ID、总线路由和限位，还提供串口枚举与 J1 只读监视工具。这里展示的是可观察、可诊断、不可误执行，不能把它表述成已经完成真机抓取。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真机演示按观察、诊断、只读三个层次展开。首先连接视觉服务，展示相机画面、检测类别、像素坐标、深度以及失联提示；然后扫描本机串口，明确显示当前是否存在 USB 转串口设备，而不是猜测一个 COM 口；最后用协议工具展示离线编码、解码、报文捕获解析和 J1 只读监视。即使现场暂时没有 D435i 或 USB 转串口，这些离线与只读功能仍能验证上位机接口和安全行为，但执行按钮会继续锁定。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这一页从左到右说明真机没有最终部署的四类原因。视觉侧目前只有像素 x、y 和深度 z，还缺相机内参、手眼外参以及转换到 base_link 的三维坐标；固件侧目前证据只覆盖 J1 回传，而且 pc_data 没有真正驱动电机，还缺七关节命令与遥测、ACK 和看门狗闭环；机械侧虽然已知 CAN ID、总线路由和方向端点，但机械零位、符号和偏置还没有低速实测；硬件侧也缺 USB 转串口、物理急停和可靠断电回路。因此这不是简单的“来不及做完”，而是控制闭环与安全依据不足，在这些条件补齐前保持只读和执行闭锁才是正确的工程状态。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最后总结一下：我已经交付统一上位机界面、消息模型、安全与状态机，完成 MuJoCo 实时视觉和任务执行闭环，并准备了真机视觉监视、USART10 工具、28 项测试、日志和演示文档。真机开放前还需要完成 D435i 与手眼标定、七关节固件闭环、低速零位与限位验证，以及物理急停、看门狗、ACK 和故障恢复验证。下一阶段可以沿着标定、固件闭环、单关节低速、七关节联调、视觉抓取的顺序推进，而不需要重新设计上位机框架。我的汇报到这里，谢谢老师。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kicker">
            <a:extLst>
              <a:ext uri="{FF2B5EF4-FFF2-40B4-BE49-F238E27FC236}">
                <a16:creationId xmlns:a16="http://schemas.microsoft.com/office/drawing/2014/main" id="{768D698F-9311-4E54-9F86-89DB057B016A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endParaRPr sz="1275" b="1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4D07868D-1B1B-4B78-9960-F7F5CA71E6CC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5667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OpenArm</a:t>
            </a:r>
          </a:p>
          <a:p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C33352AC-BA81-4180-BEFA-5AD63B507930}"/>
              </a:ext>
            </a:extLst>
          </p:cNvPr>
          <p:cNvSpPr>
            <a:spLocks noGrp="1"/>
          </p:cNvSpPr>
          <p:nvPr/>
        </p:nvSpPr>
        <p:spPr>
          <a:xfrm>
            <a:off x="552450" y="3181350"/>
            <a:ext cx="4857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endParaRPr sz="2250" b="1">
              <a:solidFill>
                <a:srgbClr val="5B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over-accent">
            <a:extLst>
              <a:ext uri="{FF2B5EF4-FFF2-40B4-BE49-F238E27FC236}">
                <a16:creationId xmlns:a16="http://schemas.microsoft.com/office/drawing/2014/main" id="{315C4824-B59A-4D4E-BD46-83B2294FD905}"/>
              </a:ext>
            </a:extLst>
          </p:cNvPr>
          <p:cNvSpPr>
            <a:spLocks noGrp="1"/>
          </p:cNvSpPr>
          <p:nvPr/>
        </p:nvSpPr>
        <p:spPr>
          <a:xfrm>
            <a:off x="552450" y="4581525"/>
            <a:ext cx="16002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cover-footer">
            <a:extLst>
              <a:ext uri="{FF2B5EF4-FFF2-40B4-BE49-F238E27FC236}">
                <a16:creationId xmlns:a16="http://schemas.microsoft.com/office/drawing/2014/main" id="{C9A7618A-68D2-47BA-B580-09EAFEFED5E8}"/>
              </a:ext>
            </a:extLst>
          </p:cNvPr>
          <p:cNvSpPr>
            <a:spLocks noGrp="1"/>
          </p:cNvSpPr>
          <p:nvPr/>
        </p:nvSpPr>
        <p:spPr>
          <a:xfrm>
            <a:off x="552450" y="5010150"/>
            <a:ext cx="523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endParaRPr sz="1575" b="0">
              <a:solidFill>
                <a:srgbClr val="5B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cover-image-field">
            <a:extLst>
              <a:ext uri="{FF2B5EF4-FFF2-40B4-BE49-F238E27FC236}">
                <a16:creationId xmlns:a16="http://schemas.microsoft.com/office/drawing/2014/main" id="{25B23B3A-490B-46C1-8F4B-5F99831FD537}"/>
              </a:ext>
            </a:extLst>
          </p:cNvPr>
          <p:cNvSpPr>
            <a:spLocks noGrp="1"/>
          </p:cNvSpPr>
          <p:nvPr/>
        </p:nvSpPr>
        <p:spPr>
          <a:xfrm>
            <a:off x="6334125" y="342900"/>
            <a:ext cx="5334000" cy="6019800"/>
          </a:xfrm>
          <a:prstGeom prst="roundRect">
            <a:avLst>
              <a:gd name="adj" fmla="val 2143"/>
            </a:avLst>
          </a:prstGeom>
          <a:solidFill>
            <a:srgbClr val="0B0B0B"/>
          </a:solidFill>
          <a:ln w="0">
            <a:noFill/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85932" y="552450"/>
            <a:ext cx="3830387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9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-2">
            <a:extLst>
              <a:ext uri="{FF2B5EF4-FFF2-40B4-BE49-F238E27FC236}">
                <a16:creationId xmlns:a16="http://schemas.microsoft.com/office/drawing/2014/main" id="{4ABA4596-2EF5-408B-A46F-3C5C7F3E731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B5F6A563-2358-449F-B10A-57DDE2F9F8F2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096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把视觉、仿真与电控统一到一个上位机入口</a:t>
            </a:r>
          </a:p>
        </p:txBody>
      </p:sp>
      <p:cxnSp>
        <p:nvCxnSpPr>
          <p:cNvPr id="19" name="rule-2"/>
          <p:cNvCxnSpPr/>
          <p:nvPr/>
        </p:nvCxnSpPr>
        <p:spPr>
          <a:xfrm>
            <a:off x="514350" y="1381125"/>
            <a:ext cx="11163300" cy="0"/>
          </a:xfrm>
          <a:prstGeom prst="straightConnector1">
            <a:avLst/>
          </a:prstGeom>
          <a:ln w="9525">
            <a:solidFill>
              <a:srgbClr val="111111"/>
            </a:solidFill>
            <a:prstDash val="solid"/>
          </a:ln>
        </p:spPr>
      </p:cxnSp>
      <p:sp>
        <p:nvSpPr>
          <p:cNvPr id="4" name="page-2">
            <a:extLst>
              <a:ext uri="{FF2B5EF4-FFF2-40B4-BE49-F238E27FC236}">
                <a16:creationId xmlns:a16="http://schemas.microsoft.com/office/drawing/2014/main" id="{A52434F1-E687-4360-9372-670B531E51F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scope-num-0">
            <a:extLst>
              <a:ext uri="{FF2B5EF4-FFF2-40B4-BE49-F238E27FC236}">
                <a16:creationId xmlns:a16="http://schemas.microsoft.com/office/drawing/2014/main" id="{C43218D3-B4A2-4C3F-B6B1-9B83D1E54FAB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cope-title-0">
            <a:extLst>
              <a:ext uri="{FF2B5EF4-FFF2-40B4-BE49-F238E27FC236}">
                <a16:creationId xmlns:a16="http://schemas.microsoft.com/office/drawing/2014/main" id="{82617DA2-4A8B-4690-B928-F7D985F39830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3143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界面与任务流程</a:t>
            </a:r>
          </a:p>
        </p:txBody>
      </p:sp>
      <p:sp>
        <p:nvSpPr>
          <p:cNvPr id="7" name="scope-body-0">
            <a:extLst>
              <a:ext uri="{FF2B5EF4-FFF2-40B4-BE49-F238E27FC236}">
                <a16:creationId xmlns:a16="http://schemas.microsoft.com/office/drawing/2014/main" id="{0A039EB4-9916-45A6-A03A-DA389425AFC8}"/>
              </a:ext>
            </a:extLst>
          </p:cNvPr>
          <p:cNvSpPr>
            <a:spLocks noGrp="1"/>
          </p:cNvSpPr>
          <p:nvPr/>
        </p:nvSpPr>
        <p:spPr>
          <a:xfrm>
            <a:off x="514350" y="3162300"/>
            <a:ext cx="3143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目标画面与检测框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任务确认 / 回零 / 取消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状态机与会话日志</a:t>
            </a:r>
          </a:p>
        </p:txBody>
      </p:sp>
      <p:cxnSp>
        <p:nvCxnSpPr>
          <p:cNvPr id="24" name="scope-vline-1"/>
          <p:cNvCxnSpPr/>
          <p:nvPr/>
        </p:nvCxnSpPr>
        <p:spPr>
          <a:xfrm>
            <a:off x="4010025" y="1952625"/>
            <a:ext cx="0" cy="33147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scope-num-1">
            <a:extLst>
              <a:ext uri="{FF2B5EF4-FFF2-40B4-BE49-F238E27FC236}">
                <a16:creationId xmlns:a16="http://schemas.microsoft.com/office/drawing/2014/main" id="{9A39A270-9901-4AD3-BF00-0CD5156DE93A}"/>
              </a:ext>
            </a:extLst>
          </p:cNvPr>
          <p:cNvSpPr>
            <a:spLocks noGrp="1"/>
          </p:cNvSpPr>
          <p:nvPr/>
        </p:nvSpPr>
        <p:spPr>
          <a:xfrm>
            <a:off x="4276725" y="18478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cope-title-1">
            <a:extLst>
              <a:ext uri="{FF2B5EF4-FFF2-40B4-BE49-F238E27FC236}">
                <a16:creationId xmlns:a16="http://schemas.microsoft.com/office/drawing/2014/main" id="{834D0EF5-4C3E-4D00-9AAB-3F72329D59E8}"/>
              </a:ext>
            </a:extLst>
          </p:cNvPr>
          <p:cNvSpPr>
            <a:spLocks noGrp="1"/>
          </p:cNvSpPr>
          <p:nvPr/>
        </p:nvSpPr>
        <p:spPr>
          <a:xfrm>
            <a:off x="4276725" y="2419350"/>
            <a:ext cx="3143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三类接口适配</a:t>
            </a:r>
          </a:p>
        </p:txBody>
      </p:sp>
      <p:sp>
        <p:nvSpPr>
          <p:cNvPr id="11" name="scope-body-1">
            <a:extLst>
              <a:ext uri="{FF2B5EF4-FFF2-40B4-BE49-F238E27FC236}">
                <a16:creationId xmlns:a16="http://schemas.microsoft.com/office/drawing/2014/main" id="{24763A5F-14BA-476F-912E-DA608658A220}"/>
              </a:ext>
            </a:extLst>
          </p:cNvPr>
          <p:cNvSpPr>
            <a:spLocks noGrp="1"/>
          </p:cNvSpPr>
          <p:nvPr/>
        </p:nvSpPr>
        <p:spPr>
          <a:xfrm>
            <a:off x="4276725" y="3162300"/>
            <a:ext cx="3143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离线回放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MuJoCo WebSocket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RealSense / YOLO WebSocket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USART10 协议工具</a:t>
            </a:r>
          </a:p>
        </p:txBody>
      </p:sp>
      <p:cxnSp>
        <p:nvCxnSpPr>
          <p:cNvPr id="28" name="scope-vline-2"/>
          <p:cNvCxnSpPr/>
          <p:nvPr/>
        </p:nvCxnSpPr>
        <p:spPr>
          <a:xfrm>
            <a:off x="7772400" y="1952625"/>
            <a:ext cx="0" cy="33147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scope-num-2">
            <a:extLst>
              <a:ext uri="{FF2B5EF4-FFF2-40B4-BE49-F238E27FC236}">
                <a16:creationId xmlns:a16="http://schemas.microsoft.com/office/drawing/2014/main" id="{F97A1162-E9F1-4D5F-9121-59E0E7ED5DF3}"/>
              </a:ext>
            </a:extLst>
          </p:cNvPr>
          <p:cNvSpPr>
            <a:spLocks noGrp="1"/>
          </p:cNvSpPr>
          <p:nvPr/>
        </p:nvSpPr>
        <p:spPr>
          <a:xfrm>
            <a:off x="8039100" y="18478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cope-title-2">
            <a:extLst>
              <a:ext uri="{FF2B5EF4-FFF2-40B4-BE49-F238E27FC236}">
                <a16:creationId xmlns:a16="http://schemas.microsoft.com/office/drawing/2014/main" id="{83D68318-493E-4176-8200-2ADFE328C8D2}"/>
              </a:ext>
            </a:extLst>
          </p:cNvPr>
          <p:cNvSpPr>
            <a:spLocks noGrp="1"/>
          </p:cNvSpPr>
          <p:nvPr/>
        </p:nvSpPr>
        <p:spPr>
          <a:xfrm>
            <a:off x="8039100" y="2419350"/>
            <a:ext cx="3143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安全与可验证性</a:t>
            </a:r>
          </a:p>
        </p:txBody>
      </p:sp>
      <p:sp>
        <p:nvSpPr>
          <p:cNvPr id="15" name="scope-body-2">
            <a:extLst>
              <a:ext uri="{FF2B5EF4-FFF2-40B4-BE49-F238E27FC236}">
                <a16:creationId xmlns:a16="http://schemas.microsoft.com/office/drawing/2014/main" id="{53CF6B57-3404-4E15-B511-F0605BC85FA7}"/>
              </a:ext>
            </a:extLst>
          </p:cNvPr>
          <p:cNvSpPr>
            <a:spLocks noGrp="1"/>
          </p:cNvSpPr>
          <p:nvPr/>
        </p:nvSpPr>
        <p:spPr>
          <a:xfrm>
            <a:off x="8039100" y="3162300"/>
            <a:ext cx="3143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坐标系与工作空间校验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超时、重连、队列限流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急停锁存与执行闭锁</a:t>
            </a:r>
          </a:p>
          <a:p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自动测试和联调文档</a:t>
            </a:r>
          </a:p>
        </p:txBody>
      </p:sp>
      <p:sp>
        <p:nvSpPr>
          <p:cNvPr id="16" name="scope-conclusion">
            <a:extLst>
              <a:ext uri="{FF2B5EF4-FFF2-40B4-BE49-F238E27FC236}">
                <a16:creationId xmlns:a16="http://schemas.microsoft.com/office/drawing/2014/main" id="{6B60B71C-7062-493F-8844-082F57014860}"/>
              </a:ext>
            </a:extLst>
          </p:cNvPr>
          <p:cNvSpPr>
            <a:spLocks noGrp="1"/>
          </p:cNvSpPr>
          <p:nvPr/>
        </p:nvSpPr>
        <p:spPr>
          <a:xfrm>
            <a:off x="514350" y="57150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56"/>
          </a:bodyPr>
          <a:lstStyle/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核心原则：UI 不直接绑定某一个视觉程序或电机协议；通过传输层切换数据源，通过安全层决定是否允许执行。</a:t>
            </a:r>
          </a:p>
        </p:txBody>
      </p:sp>
    </p:spTree>
    <p:extLst>
      <p:ext uri="{BB962C8B-B14F-4D97-AF65-F5344CB8AC3E}">
        <p14:creationId xmlns:p14="http://schemas.microsoft.com/office/powerpoint/2010/main" val="42675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-4">
            <a:extLst>
              <a:ext uri="{FF2B5EF4-FFF2-40B4-BE49-F238E27FC236}">
                <a16:creationId xmlns:a16="http://schemas.microsoft.com/office/drawing/2014/main" id="{94CC1FDC-1AE4-4B59-BAA3-7C026076502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9DB2AE39-4B2F-4A9F-ABDE-97B8A5042A2C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096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同一套 UI，通过传输适配器切换三种联调模式</a:t>
            </a:r>
          </a:p>
        </p:txBody>
      </p:sp>
      <p:cxnSp>
        <p:nvCxnSpPr>
          <p:cNvPr id="24" name="rule-4"/>
          <p:cNvCxnSpPr/>
          <p:nvPr/>
        </p:nvCxnSpPr>
        <p:spPr>
          <a:xfrm>
            <a:off x="514350" y="1381125"/>
            <a:ext cx="11163300" cy="0"/>
          </a:xfrm>
          <a:prstGeom prst="straightConnector1">
            <a:avLst/>
          </a:prstGeom>
          <a:ln w="9525">
            <a:solidFill>
              <a:srgbClr val="111111"/>
            </a:solidFill>
            <a:prstDash val="solid"/>
          </a:ln>
        </p:spPr>
      </p:cxnSp>
      <p:sp>
        <p:nvSpPr>
          <p:cNvPr id="4" name="page-4">
            <a:extLst>
              <a:ext uri="{FF2B5EF4-FFF2-40B4-BE49-F238E27FC236}">
                <a16:creationId xmlns:a16="http://schemas.microsoft.com/office/drawing/2014/main" id="{08072ED9-7290-4B6C-8793-726686864F2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arch-arrow-1">
            <a:extLst>
              <a:ext uri="{FF2B5EF4-FFF2-40B4-BE49-F238E27FC236}">
                <a16:creationId xmlns:a16="http://schemas.microsoft.com/office/drawing/2014/main" id="{13B89340-2CF1-4B09-9468-0623347CED61}"/>
              </a:ext>
            </a:extLst>
          </p:cNvPr>
          <p:cNvSpPr>
            <a:spLocks noGrp="1"/>
          </p:cNvSpPr>
          <p:nvPr/>
        </p:nvSpPr>
        <p:spPr>
          <a:xfrm>
            <a:off x="2724150" y="3333750"/>
            <a:ext cx="704850" cy="323850"/>
          </a:xfrm>
          <a:prstGeom prst="rightArrow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arch-arrow-2">
            <a:extLst>
              <a:ext uri="{FF2B5EF4-FFF2-40B4-BE49-F238E27FC236}">
                <a16:creationId xmlns:a16="http://schemas.microsoft.com/office/drawing/2014/main" id="{DD7D2F80-1B3C-4693-8791-0C757F5F55B6}"/>
              </a:ext>
            </a:extLst>
          </p:cNvPr>
          <p:cNvSpPr>
            <a:spLocks noGrp="1"/>
          </p:cNvSpPr>
          <p:nvPr/>
        </p:nvSpPr>
        <p:spPr>
          <a:xfrm>
            <a:off x="5429250" y="3333750"/>
            <a:ext cx="704850" cy="323850"/>
          </a:xfrm>
          <a:prstGeom prst="rightArrow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7" name="arch-arrow-3">
            <a:extLst>
              <a:ext uri="{FF2B5EF4-FFF2-40B4-BE49-F238E27FC236}">
                <a16:creationId xmlns:a16="http://schemas.microsoft.com/office/drawing/2014/main" id="{83440199-884C-44CA-90B3-2B8F6A61A593}"/>
              </a:ext>
            </a:extLst>
          </p:cNvPr>
          <p:cNvSpPr>
            <a:spLocks noGrp="1"/>
          </p:cNvSpPr>
          <p:nvPr/>
        </p:nvSpPr>
        <p:spPr>
          <a:xfrm>
            <a:off x="8143875" y="3333750"/>
            <a:ext cx="704850" cy="323850"/>
          </a:xfrm>
          <a:prstGeom prst="rightArrow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arch-node-0">
            <a:extLst>
              <a:ext uri="{FF2B5EF4-FFF2-40B4-BE49-F238E27FC236}">
                <a16:creationId xmlns:a16="http://schemas.microsoft.com/office/drawing/2014/main" id="{AA84A698-323E-4085-861A-27F6CE9EF273}"/>
              </a:ext>
            </a:extLst>
          </p:cNvPr>
          <p:cNvSpPr>
            <a:spLocks noGrp="1"/>
          </p:cNvSpPr>
          <p:nvPr/>
        </p:nvSpPr>
        <p:spPr>
          <a:xfrm>
            <a:off x="514350" y="2971800"/>
            <a:ext cx="2209800" cy="2038350"/>
          </a:xfrm>
          <a:prstGeom prst="roundRect">
            <a:avLst>
              <a:gd name="adj" fmla="val 560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arch-node-title-0">
            <a:extLst>
              <a:ext uri="{FF2B5EF4-FFF2-40B4-BE49-F238E27FC236}">
                <a16:creationId xmlns:a16="http://schemas.microsoft.com/office/drawing/2014/main" id="{ECE817BB-5CDC-4AA2-894C-B42CB6FAA402}"/>
              </a:ext>
            </a:extLst>
          </p:cNvPr>
          <p:cNvSpPr>
            <a:spLocks noGrp="1"/>
          </p:cNvSpPr>
          <p:nvPr/>
        </p:nvSpPr>
        <p:spPr>
          <a:xfrm>
            <a:off x="723900" y="3209925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10" name="arch-node-body-0">
            <a:extLst>
              <a:ext uri="{FF2B5EF4-FFF2-40B4-BE49-F238E27FC236}">
                <a16:creationId xmlns:a16="http://schemas.microsoft.com/office/drawing/2014/main" id="{EAC6E78D-A274-41AF-B476-7E2CE7299FB2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17907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回放 JSONL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MuJoCo RGB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RealSense / YOLO</a:t>
            </a:r>
          </a:p>
        </p:txBody>
      </p:sp>
      <p:sp>
        <p:nvSpPr>
          <p:cNvPr id="11" name="arch-node-1">
            <a:extLst>
              <a:ext uri="{FF2B5EF4-FFF2-40B4-BE49-F238E27FC236}">
                <a16:creationId xmlns:a16="http://schemas.microsoft.com/office/drawing/2014/main" id="{09F706BF-B5EF-4E8A-980B-9D651F5413C3}"/>
              </a:ext>
            </a:extLst>
          </p:cNvPr>
          <p:cNvSpPr>
            <a:spLocks noGrp="1"/>
          </p:cNvSpPr>
          <p:nvPr/>
        </p:nvSpPr>
        <p:spPr>
          <a:xfrm>
            <a:off x="3429000" y="2971800"/>
            <a:ext cx="2000250" cy="2038350"/>
          </a:xfrm>
          <a:prstGeom prst="roundRect">
            <a:avLst>
              <a:gd name="adj" fmla="val 5714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arch-node-title-1">
            <a:extLst>
              <a:ext uri="{FF2B5EF4-FFF2-40B4-BE49-F238E27FC236}">
                <a16:creationId xmlns:a16="http://schemas.microsoft.com/office/drawing/2014/main" id="{3A150A37-C758-4107-84C1-770BB5DADB6D}"/>
              </a:ext>
            </a:extLst>
          </p:cNvPr>
          <p:cNvSpPr>
            <a:spLocks noGrp="1"/>
          </p:cNvSpPr>
          <p:nvPr/>
        </p:nvSpPr>
        <p:spPr>
          <a:xfrm>
            <a:off x="3638550" y="3209925"/>
            <a:ext cx="1581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传输适配</a:t>
            </a:r>
          </a:p>
        </p:txBody>
      </p:sp>
      <p:sp>
        <p:nvSpPr>
          <p:cNvPr id="13" name="arch-node-body-1">
            <a:extLst>
              <a:ext uri="{FF2B5EF4-FFF2-40B4-BE49-F238E27FC236}">
                <a16:creationId xmlns:a16="http://schemas.microsoft.com/office/drawing/2014/main" id="{7328F880-AB23-48BD-8AB9-45BCF54C33FC}"/>
              </a:ext>
            </a:extLst>
          </p:cNvPr>
          <p:cNvSpPr>
            <a:spLocks noGrp="1"/>
          </p:cNvSpPr>
          <p:nvPr/>
        </p:nvSpPr>
        <p:spPr>
          <a:xfrm>
            <a:off x="3638550" y="3848100"/>
            <a:ext cx="15811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DetectionBatch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TaskStatus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有界队列 / 重连</a:t>
            </a:r>
          </a:p>
        </p:txBody>
      </p:sp>
      <p:sp>
        <p:nvSpPr>
          <p:cNvPr id="14" name="arch-node-2">
            <a:extLst>
              <a:ext uri="{FF2B5EF4-FFF2-40B4-BE49-F238E27FC236}">
                <a16:creationId xmlns:a16="http://schemas.microsoft.com/office/drawing/2014/main" id="{CD988262-CDEE-458E-8F85-7C25343F0824}"/>
              </a:ext>
            </a:extLst>
          </p:cNvPr>
          <p:cNvSpPr>
            <a:spLocks noGrp="1"/>
          </p:cNvSpPr>
          <p:nvPr/>
        </p:nvSpPr>
        <p:spPr>
          <a:xfrm>
            <a:off x="6134100" y="2971800"/>
            <a:ext cx="2009775" cy="2038350"/>
          </a:xfrm>
          <a:prstGeom prst="roundRect">
            <a:avLst>
              <a:gd name="adj" fmla="val 5687"/>
            </a:avLst>
          </a:prstGeom>
          <a:solidFill>
            <a:srgbClr val="D0ED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arch-node-title-2">
            <a:extLst>
              <a:ext uri="{FF2B5EF4-FFF2-40B4-BE49-F238E27FC236}">
                <a16:creationId xmlns:a16="http://schemas.microsoft.com/office/drawing/2014/main" id="{B2D9EBC1-A8D1-44F5-A04A-F461117A7BFD}"/>
              </a:ext>
            </a:extLst>
          </p:cNvPr>
          <p:cNvSpPr>
            <a:spLocks noGrp="1"/>
          </p:cNvSpPr>
          <p:nvPr/>
        </p:nvSpPr>
        <p:spPr>
          <a:xfrm>
            <a:off x="6343650" y="3209925"/>
            <a:ext cx="1590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上位机核心</a:t>
            </a:r>
          </a:p>
        </p:txBody>
      </p:sp>
      <p:sp>
        <p:nvSpPr>
          <p:cNvPr id="16" name="arch-node-body-2">
            <a:extLst>
              <a:ext uri="{FF2B5EF4-FFF2-40B4-BE49-F238E27FC236}">
                <a16:creationId xmlns:a16="http://schemas.microsoft.com/office/drawing/2014/main" id="{DD9B1EFD-D60C-492E-B26B-7120B3E0B693}"/>
              </a:ext>
            </a:extLst>
          </p:cNvPr>
          <p:cNvSpPr>
            <a:spLocks noGrp="1"/>
          </p:cNvSpPr>
          <p:nvPr/>
        </p:nvSpPr>
        <p:spPr>
          <a:xfrm>
            <a:off x="6343650" y="3848100"/>
            <a:ext cx="15906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364"/>
          </a:bodyPr>
          <a:lstStyle/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画面与目标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安全校验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任务状态机 / 日志</a:t>
            </a:r>
          </a:p>
        </p:txBody>
      </p:sp>
      <p:sp>
        <p:nvSpPr>
          <p:cNvPr id="17" name="arch-node-3">
            <a:extLst>
              <a:ext uri="{FF2B5EF4-FFF2-40B4-BE49-F238E27FC236}">
                <a16:creationId xmlns:a16="http://schemas.microsoft.com/office/drawing/2014/main" id="{3F46206B-A145-4B64-BFBF-FF27CA8AB022}"/>
              </a:ext>
            </a:extLst>
          </p:cNvPr>
          <p:cNvSpPr>
            <a:spLocks noGrp="1"/>
          </p:cNvSpPr>
          <p:nvPr/>
        </p:nvSpPr>
        <p:spPr>
          <a:xfrm>
            <a:off x="8848725" y="2971800"/>
            <a:ext cx="2828925" cy="2038350"/>
          </a:xfrm>
          <a:prstGeom prst="roundRect">
            <a:avLst>
              <a:gd name="adj" fmla="val 560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arch-node-title-3">
            <a:extLst>
              <a:ext uri="{FF2B5EF4-FFF2-40B4-BE49-F238E27FC236}">
                <a16:creationId xmlns:a16="http://schemas.microsoft.com/office/drawing/2014/main" id="{B75F95AE-88D0-4BC3-919A-0A8894EF8F86}"/>
              </a:ext>
            </a:extLst>
          </p:cNvPr>
          <p:cNvSpPr>
            <a:spLocks noGrp="1"/>
          </p:cNvSpPr>
          <p:nvPr/>
        </p:nvSpPr>
        <p:spPr>
          <a:xfrm>
            <a:off x="9058275" y="3209925"/>
            <a:ext cx="24098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执行边界</a:t>
            </a:r>
          </a:p>
        </p:txBody>
      </p:sp>
      <p:sp>
        <p:nvSpPr>
          <p:cNvPr id="19" name="arch-node-body-3">
            <a:extLst>
              <a:ext uri="{FF2B5EF4-FFF2-40B4-BE49-F238E27FC236}">
                <a16:creationId xmlns:a16="http://schemas.microsoft.com/office/drawing/2014/main" id="{1D3B6422-D0D9-47EF-BDD6-A9180A19B78F}"/>
              </a:ext>
            </a:extLst>
          </p:cNvPr>
          <p:cNvSpPr>
            <a:spLocks noGrp="1"/>
          </p:cNvSpPr>
          <p:nvPr/>
        </p:nvSpPr>
        <p:spPr>
          <a:xfrm>
            <a:off x="9058275" y="3848100"/>
            <a:ext cx="24098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MuJoCo：允许仿真执行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真机视觉：只观察</a:t>
            </a:r>
          </a:p>
          <a:p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USART10：只读</a:t>
            </a:r>
          </a:p>
        </p:txBody>
      </p:sp>
      <p:sp>
        <p:nvSpPr>
          <p:cNvPr id="20" name="arch-claim">
            <a:extLst>
              <a:ext uri="{FF2B5EF4-FFF2-40B4-BE49-F238E27FC236}">
                <a16:creationId xmlns:a16="http://schemas.microsoft.com/office/drawing/2014/main" id="{04D65FB0-FE67-44DF-BF4E-CC899B9D8F14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上位机不把“看见目标”直接等同于“允许运动”</a:t>
            </a:r>
          </a:p>
        </p:txBody>
      </p:sp>
      <p:sp>
        <p:nvSpPr>
          <p:cNvPr id="21" name="arch-subclaim">
            <a:extLst>
              <a:ext uri="{FF2B5EF4-FFF2-40B4-BE49-F238E27FC236}">
                <a16:creationId xmlns:a16="http://schemas.microsoft.com/office/drawing/2014/main" id="{D6F276E3-4462-410C-A4EC-8FE2B1858BC1}"/>
              </a:ext>
            </a:extLst>
          </p:cNvPr>
          <p:cNvSpPr>
            <a:spLocks noGrp="1"/>
          </p:cNvSpPr>
          <p:nvPr/>
        </p:nvSpPr>
        <p:spPr>
          <a:xfrm>
            <a:off x="514350" y="23431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执行权限由坐标、时效、工作空间、接口完备度和运行模式共同决定。</a:t>
            </a:r>
          </a:p>
        </p:txBody>
      </p:sp>
    </p:spTree>
    <p:extLst>
      <p:ext uri="{BB962C8B-B14F-4D97-AF65-F5344CB8AC3E}">
        <p14:creationId xmlns:p14="http://schemas.microsoft.com/office/powerpoint/2010/main" val="464345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5">
            <a:extLst>
              <a:ext uri="{FF2B5EF4-FFF2-40B4-BE49-F238E27FC236}">
                <a16:creationId xmlns:a16="http://schemas.microsoft.com/office/drawing/2014/main" id="{B3CAD864-94DD-41A3-A128-CAC53C9A344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LIVE DEMO / MUJOCO FIRST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A5B2217C-FD89-448D-87CF-0BCCDC0F957B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096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演示一：仿真上位机展示完整的视觉—任务闭环</a:t>
            </a:r>
          </a:p>
        </p:txBody>
      </p:sp>
      <p:cxnSp>
        <p:nvCxnSpPr>
          <p:cNvPr id="18" name="rule-5"/>
          <p:cNvCxnSpPr/>
          <p:nvPr/>
        </p:nvCxnSpPr>
        <p:spPr>
          <a:xfrm>
            <a:off x="514350" y="1381125"/>
            <a:ext cx="11163300" cy="0"/>
          </a:xfrm>
          <a:prstGeom prst="straightConnector1">
            <a:avLst/>
          </a:prstGeom>
          <a:ln w="9525">
            <a:solidFill>
              <a:srgbClr val="111111"/>
            </a:solidFill>
            <a:prstDash val="solid"/>
          </a:ln>
        </p:spPr>
      </p:cxnSp>
      <p:sp>
        <p:nvSpPr>
          <p:cNvPr id="4" name="page-5">
            <a:extLst>
              <a:ext uri="{FF2B5EF4-FFF2-40B4-BE49-F238E27FC236}">
                <a16:creationId xmlns:a16="http://schemas.microsoft.com/office/drawing/2014/main" id="{1BD196CF-0F96-4099-801D-CEDCFFBB74C6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sim-order-title">
            <a:extLst>
              <a:ext uri="{FF2B5EF4-FFF2-40B4-BE49-F238E27FC236}">
                <a16:creationId xmlns:a16="http://schemas.microsoft.com/office/drawing/2014/main" id="{2D34D182-DBAE-4DED-A6C5-85AE4591AD0C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启动顺序</a:t>
            </a:r>
          </a:p>
        </p:txBody>
      </p:sp>
      <p:sp>
        <p:nvSpPr>
          <p:cNvPr id="6" name="sim-order">
            <a:extLst>
              <a:ext uri="{FF2B5EF4-FFF2-40B4-BE49-F238E27FC236}">
                <a16:creationId xmlns:a16="http://schemas.microsoft.com/office/drawing/2014/main" id="{F0071196-9AA4-46DD-9346-03E8D9625D06}"/>
              </a:ext>
            </a:extLst>
          </p:cNvPr>
          <p:cNvSpPr>
            <a:spLocks noGrp="1"/>
          </p:cNvSpPr>
          <p:nvPr/>
        </p:nvSpPr>
        <p:spPr>
          <a:xfrm>
            <a:off x="514350" y="2305050"/>
            <a:ext cx="44291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运行 MuJoCo 视觉桥</a:t>
            </a:r>
          </a:p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运行仿真上位机</a:t>
            </a:r>
          </a:p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识别橙色方块</a:t>
            </a:r>
          </a:p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确认执行抓取放置</a:t>
            </a:r>
          </a:p>
        </p:txBody>
      </p:sp>
      <p:sp>
        <p:nvSpPr>
          <p:cNvPr id="7" name="sim-bullets-dot-0">
            <a:extLst>
              <a:ext uri="{FF2B5EF4-FFF2-40B4-BE49-F238E27FC236}">
                <a16:creationId xmlns:a16="http://schemas.microsoft.com/office/drawing/2014/main" id="{1E0D74E8-85A9-441C-BA5B-DB3C25063FF3}"/>
              </a:ext>
            </a:extLst>
          </p:cNvPr>
          <p:cNvSpPr>
            <a:spLocks noGrp="1"/>
          </p:cNvSpPr>
          <p:nvPr/>
        </p:nvSpPr>
        <p:spPr>
          <a:xfrm>
            <a:off x="514350" y="44672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sim-bullets-text-0">
            <a:extLst>
              <a:ext uri="{FF2B5EF4-FFF2-40B4-BE49-F238E27FC236}">
                <a16:creationId xmlns:a16="http://schemas.microsoft.com/office/drawing/2014/main" id="{3905CA2A-592F-4FA2-9890-77A939DC5E4B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640×480 虚拟相机，5 FPS 持续中间帧</a:t>
            </a:r>
          </a:p>
        </p:txBody>
      </p:sp>
      <p:sp>
        <p:nvSpPr>
          <p:cNvPr id="9" name="sim-bullets-dot-1">
            <a:extLst>
              <a:ext uri="{FF2B5EF4-FFF2-40B4-BE49-F238E27FC236}">
                <a16:creationId xmlns:a16="http://schemas.microsoft.com/office/drawing/2014/main" id="{94CCCC5C-3038-4E1F-8CF4-1B355CE94AA9}"/>
              </a:ext>
            </a:extLst>
          </p:cNvPr>
          <p:cNvSpPr>
            <a:spLocks noGrp="1"/>
          </p:cNvSpPr>
          <p:nvPr/>
        </p:nvSpPr>
        <p:spPr>
          <a:xfrm>
            <a:off x="514350" y="490537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sim-bullets-text-1">
            <a:extLst>
              <a:ext uri="{FF2B5EF4-FFF2-40B4-BE49-F238E27FC236}">
                <a16:creationId xmlns:a16="http://schemas.microsoft.com/office/drawing/2014/main" id="{A2753BD1-0862-4497-8A8B-59791E957727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检测框、置信度与 base_link 坐标</a:t>
            </a:r>
          </a:p>
        </p:txBody>
      </p:sp>
      <p:sp>
        <p:nvSpPr>
          <p:cNvPr id="11" name="sim-bullets-dot-2">
            <a:extLst>
              <a:ext uri="{FF2B5EF4-FFF2-40B4-BE49-F238E27FC236}">
                <a16:creationId xmlns:a16="http://schemas.microsoft.com/office/drawing/2014/main" id="{99065C42-9ED4-4726-96E6-A83F2A834E1E}"/>
              </a:ext>
            </a:extLst>
          </p:cNvPr>
          <p:cNvSpPr>
            <a:spLocks noGrp="1"/>
          </p:cNvSpPr>
          <p:nvPr/>
        </p:nvSpPr>
        <p:spPr>
          <a:xfrm>
            <a:off x="514350" y="53435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sim-bullets-text-2">
            <a:extLst>
              <a:ext uri="{FF2B5EF4-FFF2-40B4-BE49-F238E27FC236}">
                <a16:creationId xmlns:a16="http://schemas.microsoft.com/office/drawing/2014/main" id="{2EA7520F-AEC6-4679-AF07-FBA398BCC138}"/>
              </a:ext>
            </a:extLst>
          </p:cNvPr>
          <p:cNvSpPr>
            <a:spLocks noGrp="1"/>
          </p:cNvSpPr>
          <p:nvPr/>
        </p:nvSpPr>
        <p:spPr>
          <a:xfrm>
            <a:off x="800100" y="53530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PLANNING / EXECUTING / SUCCEEDED 状态回传</a:t>
            </a:r>
          </a:p>
        </p:txBody>
      </p:sp>
      <p:sp>
        <p:nvSpPr>
          <p:cNvPr id="13" name="sim-image-frame">
            <a:extLst>
              <a:ext uri="{FF2B5EF4-FFF2-40B4-BE49-F238E27FC236}">
                <a16:creationId xmlns:a16="http://schemas.microsoft.com/office/drawing/2014/main" id="{65C2C213-B6D0-4146-B47B-92B00C578900}"/>
              </a:ext>
            </a:extLst>
          </p:cNvPr>
          <p:cNvSpPr>
            <a:spLocks noGrp="1"/>
          </p:cNvSpPr>
          <p:nvPr/>
        </p:nvSpPr>
        <p:spPr>
          <a:xfrm>
            <a:off x="5772150" y="1714500"/>
            <a:ext cx="5905500" cy="4286250"/>
          </a:xfrm>
          <a:prstGeom prst="roundRect">
            <a:avLst>
              <a:gd name="adj" fmla="val 266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83300" y="1866900"/>
            <a:ext cx="5283200" cy="3962400"/>
          </a:xfrm>
          <a:prstGeom prst="rect">
            <a:avLst/>
          </a:prstGeom>
        </p:spPr>
      </p:pic>
      <p:sp>
        <p:nvSpPr>
          <p:cNvPr id="15" name="sim-caption">
            <a:extLst>
              <a:ext uri="{FF2B5EF4-FFF2-40B4-BE49-F238E27FC236}">
                <a16:creationId xmlns:a16="http://schemas.microsoft.com/office/drawing/2014/main" id="{B7497E38-A4F8-464D-B7B7-B8930D5A535B}"/>
              </a:ext>
            </a:extLst>
          </p:cNvPr>
          <p:cNvSpPr>
            <a:spLocks noGrp="1"/>
          </p:cNvSpPr>
          <p:nvPr/>
        </p:nvSpPr>
        <p:spPr>
          <a:xfrm>
            <a:off x="5772150" y="60960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画面来自 MuJoCo RGB 渲染，不用物体 body 坐标冒充视觉结果</a:t>
            </a:r>
          </a:p>
        </p:txBody>
      </p:sp>
    </p:spTree>
    <p:extLst>
      <p:ext uri="{BB962C8B-B14F-4D97-AF65-F5344CB8AC3E}">
        <p14:creationId xmlns:p14="http://schemas.microsoft.com/office/powerpoint/2010/main" val="103007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kicker-7">
            <a:extLst>
              <a:ext uri="{FF2B5EF4-FFF2-40B4-BE49-F238E27FC236}">
                <a16:creationId xmlns:a16="http://schemas.microsoft.com/office/drawing/2014/main" id="{50AD968C-B43B-4312-8735-DA99A10DAA4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REAL-SIDE UPPER COMPUTER / SECOND DEMO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FD92076B-6C31-4370-873D-92D1C1E77948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096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真机侧已完成“可观察、可诊断、不可误执行”</a:t>
            </a:r>
          </a:p>
        </p:txBody>
      </p:sp>
      <p:cxnSp>
        <p:nvCxnSpPr>
          <p:cNvPr id="26" name="rule-7"/>
          <p:cNvCxnSpPr/>
          <p:nvPr/>
        </p:nvCxnSpPr>
        <p:spPr>
          <a:xfrm>
            <a:off x="514350" y="1381125"/>
            <a:ext cx="11163300" cy="0"/>
          </a:xfrm>
          <a:prstGeom prst="straightConnector1">
            <a:avLst/>
          </a:prstGeom>
          <a:ln w="9525">
            <a:solidFill>
              <a:srgbClr val="111111"/>
            </a:solidFill>
            <a:prstDash val="solid"/>
          </a:ln>
        </p:spPr>
      </p:cxnSp>
      <p:sp>
        <p:nvSpPr>
          <p:cNvPr id="4" name="page-7">
            <a:extLst>
              <a:ext uri="{FF2B5EF4-FFF2-40B4-BE49-F238E27FC236}">
                <a16:creationId xmlns:a16="http://schemas.microsoft.com/office/drawing/2014/main" id="{B6FBEFAC-7B2C-49AF-ABD2-7195659ACA0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eal-vision-frame">
            <a:extLst>
              <a:ext uri="{FF2B5EF4-FFF2-40B4-BE49-F238E27FC236}">
                <a16:creationId xmlns:a16="http://schemas.microsoft.com/office/drawing/2014/main" id="{79068DAF-602C-4323-B3FA-A101FDB02DCF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4114800" cy="4171950"/>
          </a:xfrm>
          <a:prstGeom prst="roundRect">
            <a:avLst>
              <a:gd name="adj" fmla="val 2778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62984" y="1876425"/>
            <a:ext cx="2617532" cy="3924300"/>
          </a:xfrm>
          <a:prstGeom prst="rect">
            <a:avLst/>
          </a:prstGeom>
        </p:spPr>
      </p:pic>
      <p:sp>
        <p:nvSpPr>
          <p:cNvPr id="7" name="real-vision-title">
            <a:extLst>
              <a:ext uri="{FF2B5EF4-FFF2-40B4-BE49-F238E27FC236}">
                <a16:creationId xmlns:a16="http://schemas.microsoft.com/office/drawing/2014/main" id="{C685915B-02F0-48B4-B60B-A7317AEBB67F}"/>
              </a:ext>
            </a:extLst>
          </p:cNvPr>
          <p:cNvSpPr>
            <a:spLocks noGrp="1"/>
          </p:cNvSpPr>
          <p:nvPr/>
        </p:nvSpPr>
        <p:spPr>
          <a:xfrm>
            <a:off x="4953000" y="18288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视觉接入</a:t>
            </a:r>
          </a:p>
        </p:txBody>
      </p:sp>
      <p:sp>
        <p:nvSpPr>
          <p:cNvPr id="8" name="real-v-bullets-dot-0">
            <a:extLst>
              <a:ext uri="{FF2B5EF4-FFF2-40B4-BE49-F238E27FC236}">
                <a16:creationId xmlns:a16="http://schemas.microsoft.com/office/drawing/2014/main" id="{59C98996-219B-49BA-8169-DE89B7024A2B}"/>
              </a:ext>
            </a:extLst>
          </p:cNvPr>
          <p:cNvSpPr>
            <a:spLocks noGrp="1"/>
          </p:cNvSpPr>
          <p:nvPr/>
        </p:nvSpPr>
        <p:spPr>
          <a:xfrm>
            <a:off x="4953000" y="23336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real-v-bullets-text-0">
            <a:extLst>
              <a:ext uri="{FF2B5EF4-FFF2-40B4-BE49-F238E27FC236}">
                <a16:creationId xmlns:a16="http://schemas.microsoft.com/office/drawing/2014/main" id="{0C35AC7D-45AF-4799-97DF-957AAD0F1A1A}"/>
              </a:ext>
            </a:extLst>
          </p:cNvPr>
          <p:cNvSpPr>
            <a:spLocks noGrp="1"/>
          </p:cNvSpPr>
          <p:nvPr/>
        </p:nvSpPr>
        <p:spPr>
          <a:xfrm>
            <a:off x="5238750" y="23431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兼容视觉组 robot_state WebSocket</a:t>
            </a:r>
          </a:p>
        </p:txBody>
      </p:sp>
      <p:sp>
        <p:nvSpPr>
          <p:cNvPr id="10" name="real-v-bullets-dot-1">
            <a:extLst>
              <a:ext uri="{FF2B5EF4-FFF2-40B4-BE49-F238E27FC236}">
                <a16:creationId xmlns:a16="http://schemas.microsoft.com/office/drawing/2014/main" id="{90B937E3-0762-4C4F-9A21-36F067A54E75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real-v-bullets-text-1">
            <a:extLst>
              <a:ext uri="{FF2B5EF4-FFF2-40B4-BE49-F238E27FC236}">
                <a16:creationId xmlns:a16="http://schemas.microsoft.com/office/drawing/2014/main" id="{5C0421E4-5337-4F5F-879A-C029DB20D3F9}"/>
              </a:ext>
            </a:extLst>
          </p:cNvPr>
          <p:cNvSpPr>
            <a:spLocks noGrp="1"/>
          </p:cNvSpPr>
          <p:nvPr/>
        </p:nvSpPr>
        <p:spPr>
          <a:xfrm>
            <a:off x="5238750" y="27717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 JPEG、类别、像素中心与深度</a:t>
            </a:r>
          </a:p>
        </p:txBody>
      </p:sp>
      <p:sp>
        <p:nvSpPr>
          <p:cNvPr id="12" name="real-v-bullets-dot-2">
            <a:extLst>
              <a:ext uri="{FF2B5EF4-FFF2-40B4-BE49-F238E27FC236}">
                <a16:creationId xmlns:a16="http://schemas.microsoft.com/office/drawing/2014/main" id="{65296474-CD96-4103-A7CC-CF7C0E30D37B}"/>
              </a:ext>
            </a:extLst>
          </p:cNvPr>
          <p:cNvSpPr>
            <a:spLocks noGrp="1"/>
          </p:cNvSpPr>
          <p:nvPr/>
        </p:nvSpPr>
        <p:spPr>
          <a:xfrm>
            <a:off x="4953000" y="319087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real-v-bullets-text-2">
            <a:extLst>
              <a:ext uri="{FF2B5EF4-FFF2-40B4-BE49-F238E27FC236}">
                <a16:creationId xmlns:a16="http://schemas.microsoft.com/office/drawing/2014/main" id="{93419EF4-34DC-440F-9E3D-FE22E90E2CB7}"/>
              </a:ext>
            </a:extLst>
          </p:cNvPr>
          <p:cNvSpPr>
            <a:spLocks noGrp="1"/>
          </p:cNvSpPr>
          <p:nvPr/>
        </p:nvSpPr>
        <p:spPr>
          <a:xfrm>
            <a:off x="5238750" y="32004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心跳、断线重连、超时和队列限流</a:t>
            </a:r>
          </a:p>
        </p:txBody>
      </p:sp>
      <p:sp>
        <p:nvSpPr>
          <p:cNvPr id="14" name="real-elec-title">
            <a:extLst>
              <a:ext uri="{FF2B5EF4-FFF2-40B4-BE49-F238E27FC236}">
                <a16:creationId xmlns:a16="http://schemas.microsoft.com/office/drawing/2014/main" id="{14B1496D-8C68-4B07-A3EA-D85710E34267}"/>
              </a:ext>
            </a:extLst>
          </p:cNvPr>
          <p:cNvSpPr>
            <a:spLocks noGrp="1"/>
          </p:cNvSpPr>
          <p:nvPr/>
        </p:nvSpPr>
        <p:spPr>
          <a:xfrm>
            <a:off x="4953000" y="40005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电控接入</a:t>
            </a:r>
          </a:p>
        </p:txBody>
      </p:sp>
      <p:sp>
        <p:nvSpPr>
          <p:cNvPr id="15" name="real-e-bullets-dot-0">
            <a:extLst>
              <a:ext uri="{FF2B5EF4-FFF2-40B4-BE49-F238E27FC236}">
                <a16:creationId xmlns:a16="http://schemas.microsoft.com/office/drawing/2014/main" id="{8AD163BC-BE5A-4A94-9D0C-9B3162D78968}"/>
              </a:ext>
            </a:extLst>
          </p:cNvPr>
          <p:cNvSpPr>
            <a:spLocks noGrp="1"/>
          </p:cNvSpPr>
          <p:nvPr/>
        </p:nvSpPr>
        <p:spPr>
          <a:xfrm>
            <a:off x="4953000" y="45053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real-e-bullets-text-0">
            <a:extLst>
              <a:ext uri="{FF2B5EF4-FFF2-40B4-BE49-F238E27FC236}">
                <a16:creationId xmlns:a16="http://schemas.microsoft.com/office/drawing/2014/main" id="{60C34F82-809D-4B62-91D8-1EE3C4F95D95}"/>
              </a:ext>
            </a:extLst>
          </p:cNvPr>
          <p:cNvSpPr>
            <a:spLocks noGrp="1"/>
          </p:cNvSpPr>
          <p:nvPr/>
        </p:nvSpPr>
        <p:spPr>
          <a:xfrm>
            <a:off x="5238750" y="45148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USART10 24 字节编解码与流解析</a:t>
            </a:r>
          </a:p>
        </p:txBody>
      </p:sp>
      <p:sp>
        <p:nvSpPr>
          <p:cNvPr id="17" name="real-e-bullets-dot-1">
            <a:extLst>
              <a:ext uri="{FF2B5EF4-FFF2-40B4-BE49-F238E27FC236}">
                <a16:creationId xmlns:a16="http://schemas.microsoft.com/office/drawing/2014/main" id="{0E01015B-5E64-4789-9849-9A57F4448374}"/>
              </a:ext>
            </a:extLst>
          </p:cNvPr>
          <p:cNvSpPr>
            <a:spLocks noGrp="1"/>
          </p:cNvSpPr>
          <p:nvPr/>
        </p:nvSpPr>
        <p:spPr>
          <a:xfrm>
            <a:off x="4953000" y="4933950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real-e-bullets-text-1">
            <a:extLst>
              <a:ext uri="{FF2B5EF4-FFF2-40B4-BE49-F238E27FC236}">
                <a16:creationId xmlns:a16="http://schemas.microsoft.com/office/drawing/2014/main" id="{10C5E4C8-521C-49B0-86DB-B83BD95B1AF9}"/>
              </a:ext>
            </a:extLst>
          </p:cNvPr>
          <p:cNvSpPr>
            <a:spLocks noGrp="1"/>
          </p:cNvSpPr>
          <p:nvPr/>
        </p:nvSpPr>
        <p:spPr>
          <a:xfrm>
            <a:off x="5238750" y="494347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J1～J7 CAN ID、路由和限位配置</a:t>
            </a:r>
          </a:p>
        </p:txBody>
      </p:sp>
      <p:sp>
        <p:nvSpPr>
          <p:cNvPr id="19" name="real-e-bullets-dot-2">
            <a:extLst>
              <a:ext uri="{FF2B5EF4-FFF2-40B4-BE49-F238E27FC236}">
                <a16:creationId xmlns:a16="http://schemas.microsoft.com/office/drawing/2014/main" id="{40DD7C2D-ACFD-42B1-A2F2-D921F56462B1}"/>
              </a:ext>
            </a:extLst>
          </p:cNvPr>
          <p:cNvSpPr>
            <a:spLocks noGrp="1"/>
          </p:cNvSpPr>
          <p:nvPr/>
        </p:nvSpPr>
        <p:spPr>
          <a:xfrm>
            <a:off x="4953000" y="536257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real-e-bullets-text-2">
            <a:extLst>
              <a:ext uri="{FF2B5EF4-FFF2-40B4-BE49-F238E27FC236}">
                <a16:creationId xmlns:a16="http://schemas.microsoft.com/office/drawing/2014/main" id="{789E8DF7-0BDF-47C8-BA1D-D526D11CCE58}"/>
              </a:ext>
            </a:extLst>
          </p:cNvPr>
          <p:cNvSpPr>
            <a:spLocks noGrp="1"/>
          </p:cNvSpPr>
          <p:nvPr/>
        </p:nvSpPr>
        <p:spPr>
          <a:xfrm>
            <a:off x="5238750" y="53721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串口枚举与 J1 只读监视工具</a:t>
            </a:r>
          </a:p>
        </p:txBody>
      </p:sp>
      <p:sp>
        <p:nvSpPr>
          <p:cNvPr id="21" name="real-motor-frame">
            <a:extLst>
              <a:ext uri="{FF2B5EF4-FFF2-40B4-BE49-F238E27FC236}">
                <a16:creationId xmlns:a16="http://schemas.microsoft.com/office/drawing/2014/main" id="{A40FE6BF-2A5E-4201-9F1F-A8FE6F68E132}"/>
              </a:ext>
            </a:extLst>
          </p:cNvPr>
          <p:cNvSpPr>
            <a:spLocks noGrp="1"/>
          </p:cNvSpPr>
          <p:nvPr/>
        </p:nvSpPr>
        <p:spPr>
          <a:xfrm>
            <a:off x="8934450" y="1752600"/>
            <a:ext cx="2743200" cy="4171950"/>
          </a:xfrm>
          <a:prstGeom prst="roundRect">
            <a:avLst>
              <a:gd name="adj" fmla="val 4167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84032" y="1885950"/>
            <a:ext cx="1644036" cy="3905250"/>
          </a:xfrm>
          <a:prstGeom prst="rect">
            <a:avLst/>
          </a:prstGeom>
        </p:spPr>
      </p:pic>
      <p:sp>
        <p:nvSpPr>
          <p:cNvPr id="23" name="real-lock">
            <a:extLst>
              <a:ext uri="{FF2B5EF4-FFF2-40B4-BE49-F238E27FC236}">
                <a16:creationId xmlns:a16="http://schemas.microsoft.com/office/drawing/2014/main" id="{72F80C1F-A3E0-4917-A586-4455A777B3DA}"/>
              </a:ext>
            </a:extLst>
          </p:cNvPr>
          <p:cNvSpPr>
            <a:spLocks noGrp="1"/>
          </p:cNvSpPr>
          <p:nvPr/>
        </p:nvSpPr>
        <p:spPr>
          <a:xfrm>
            <a:off x="514350" y="61150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真机运动写入仍被明确禁用</a:t>
            </a:r>
          </a:p>
        </p:txBody>
      </p:sp>
    </p:spTree>
    <p:extLst>
      <p:ext uri="{BB962C8B-B14F-4D97-AF65-F5344CB8AC3E}">
        <p14:creationId xmlns:p14="http://schemas.microsoft.com/office/powerpoint/2010/main" val="211420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icker-8">
            <a:extLst>
              <a:ext uri="{FF2B5EF4-FFF2-40B4-BE49-F238E27FC236}">
                <a16:creationId xmlns:a16="http://schemas.microsoft.com/office/drawing/2014/main" id="{EE1ACAB2-83CC-4E10-BB7A-F2BDF005127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B72F87BD-13EE-4DCF-AF3C-51EAB9E296EB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096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演示二：真机上位机按“观察 → 诊断 → 只读”展开</a:t>
            </a:r>
          </a:p>
        </p:txBody>
      </p:sp>
      <p:cxnSp>
        <p:nvCxnSpPr>
          <p:cNvPr id="28" name="rule-8"/>
          <p:cNvCxnSpPr/>
          <p:nvPr/>
        </p:nvCxnSpPr>
        <p:spPr>
          <a:xfrm>
            <a:off x="514350" y="1381125"/>
            <a:ext cx="11163300" cy="0"/>
          </a:xfrm>
          <a:prstGeom prst="straightConnector1">
            <a:avLst/>
          </a:prstGeom>
          <a:ln w="9525">
            <a:solidFill>
              <a:srgbClr val="111111"/>
            </a:solidFill>
            <a:prstDash val="solid"/>
          </a:ln>
        </p:spPr>
      </p:cxnSp>
      <p:sp>
        <p:nvSpPr>
          <p:cNvPr id="4" name="page-8">
            <a:extLst>
              <a:ext uri="{FF2B5EF4-FFF2-40B4-BE49-F238E27FC236}">
                <a16:creationId xmlns:a16="http://schemas.microsoft.com/office/drawing/2014/main" id="{D44BE5FC-B67E-47E9-A5F9-9F9F1C0B4E9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real-demo-arrow-0">
            <a:extLst>
              <a:ext uri="{FF2B5EF4-FFF2-40B4-BE49-F238E27FC236}">
                <a16:creationId xmlns:a16="http://schemas.microsoft.com/office/drawing/2014/main" id="{AD695A2D-6506-4978-906D-9929CF98D099}"/>
              </a:ext>
            </a:extLst>
          </p:cNvPr>
          <p:cNvSpPr>
            <a:spLocks noGrp="1"/>
          </p:cNvSpPr>
          <p:nvPr/>
        </p:nvSpPr>
        <p:spPr>
          <a:xfrm>
            <a:off x="2895600" y="3371850"/>
            <a:ext cx="552450" cy="285750"/>
          </a:xfrm>
          <a:prstGeom prst="rightArrow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6" name="real-demo-arrow-1">
            <a:extLst>
              <a:ext uri="{FF2B5EF4-FFF2-40B4-BE49-F238E27FC236}">
                <a16:creationId xmlns:a16="http://schemas.microsoft.com/office/drawing/2014/main" id="{0267F498-B1C8-455E-9B25-C3180985325B}"/>
              </a:ext>
            </a:extLst>
          </p:cNvPr>
          <p:cNvSpPr>
            <a:spLocks noGrp="1"/>
          </p:cNvSpPr>
          <p:nvPr/>
        </p:nvSpPr>
        <p:spPr>
          <a:xfrm>
            <a:off x="5772150" y="3371850"/>
            <a:ext cx="552450" cy="285750"/>
          </a:xfrm>
          <a:prstGeom prst="rightArrow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7" name="real-demo-arrow-2">
            <a:extLst>
              <a:ext uri="{FF2B5EF4-FFF2-40B4-BE49-F238E27FC236}">
                <a16:creationId xmlns:a16="http://schemas.microsoft.com/office/drawing/2014/main" id="{196D649E-7B97-4327-807C-93EDE4C17BD7}"/>
              </a:ext>
            </a:extLst>
          </p:cNvPr>
          <p:cNvSpPr>
            <a:spLocks noGrp="1"/>
          </p:cNvSpPr>
          <p:nvPr/>
        </p:nvSpPr>
        <p:spPr>
          <a:xfrm>
            <a:off x="8648700" y="3371850"/>
            <a:ext cx="552450" cy="285750"/>
          </a:xfrm>
          <a:prstGeom prst="rightArrow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real-demo-step-0">
            <a:extLst>
              <a:ext uri="{FF2B5EF4-FFF2-40B4-BE49-F238E27FC236}">
                <a16:creationId xmlns:a16="http://schemas.microsoft.com/office/drawing/2014/main" id="{C56E0289-C912-48F3-AF84-3C6B2BDEA5F0}"/>
              </a:ext>
            </a:extLst>
          </p:cNvPr>
          <p:cNvSpPr>
            <a:spLocks noGrp="1"/>
          </p:cNvSpPr>
          <p:nvPr/>
        </p:nvSpPr>
        <p:spPr>
          <a:xfrm>
            <a:off x="514350" y="2305050"/>
            <a:ext cx="2381250" cy="2781300"/>
          </a:xfrm>
          <a:prstGeom prst="roundRect">
            <a:avLst>
              <a:gd name="adj" fmla="val 4800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al-demo-num-0">
            <a:extLst>
              <a:ext uri="{FF2B5EF4-FFF2-40B4-BE49-F238E27FC236}">
                <a16:creationId xmlns:a16="http://schemas.microsoft.com/office/drawing/2014/main" id="{18DD6091-8723-46CD-988B-AD3B96FE5108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al-demo-title-0">
            <a:extLst>
              <a:ext uri="{FF2B5EF4-FFF2-40B4-BE49-F238E27FC236}">
                <a16:creationId xmlns:a16="http://schemas.microsoft.com/office/drawing/2014/main" id="{7CD5A3D3-B5F5-429C-A05B-3F2634337B00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962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连接视觉服务</a:t>
            </a:r>
          </a:p>
        </p:txBody>
      </p:sp>
      <p:sp>
        <p:nvSpPr>
          <p:cNvPr id="11" name="real-demo-body-0">
            <a:extLst>
              <a:ext uri="{FF2B5EF4-FFF2-40B4-BE49-F238E27FC236}">
                <a16:creationId xmlns:a16="http://schemas.microsoft.com/office/drawing/2014/main" id="{0E7034F9-B75F-4F42-B867-C4F3008CD504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962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526"/>
          </a:bodyPr>
          <a:lstStyle/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运行 run_vision_monitor.bat</a:t>
            </a:r>
          </a:p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接收 D435i / YOLO WebSocket</a:t>
            </a:r>
          </a:p>
        </p:txBody>
      </p:sp>
      <p:sp>
        <p:nvSpPr>
          <p:cNvPr id="12" name="real-demo-step-1">
            <a:extLst>
              <a:ext uri="{FF2B5EF4-FFF2-40B4-BE49-F238E27FC236}">
                <a16:creationId xmlns:a16="http://schemas.microsoft.com/office/drawing/2014/main" id="{DEEB6C99-F581-49B2-BC4A-1934D41B5453}"/>
              </a:ext>
            </a:extLst>
          </p:cNvPr>
          <p:cNvSpPr>
            <a:spLocks noGrp="1"/>
          </p:cNvSpPr>
          <p:nvPr/>
        </p:nvSpPr>
        <p:spPr>
          <a:xfrm>
            <a:off x="3390900" y="2305050"/>
            <a:ext cx="2381250" cy="2781300"/>
          </a:xfrm>
          <a:prstGeom prst="roundRect">
            <a:avLst>
              <a:gd name="adj" fmla="val 4800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al-demo-num-1">
            <a:extLst>
              <a:ext uri="{FF2B5EF4-FFF2-40B4-BE49-F238E27FC236}">
                <a16:creationId xmlns:a16="http://schemas.microsoft.com/office/drawing/2014/main" id="{95F08EE8-EE7A-4C16-AF97-9300AB736343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real-demo-title-1">
            <a:extLst>
              <a:ext uri="{FF2B5EF4-FFF2-40B4-BE49-F238E27FC236}">
                <a16:creationId xmlns:a16="http://schemas.microsoft.com/office/drawing/2014/main" id="{9DE20051-A8A2-4009-95D5-7EB67CA04722}"/>
              </a:ext>
            </a:extLst>
          </p:cNvPr>
          <p:cNvSpPr>
            <a:spLocks noGrp="1"/>
          </p:cNvSpPr>
          <p:nvPr/>
        </p:nvSpPr>
        <p:spPr>
          <a:xfrm>
            <a:off x="3600450" y="3257550"/>
            <a:ext cx="1962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展示实时感知</a:t>
            </a:r>
          </a:p>
        </p:txBody>
      </p:sp>
      <p:sp>
        <p:nvSpPr>
          <p:cNvPr id="15" name="real-demo-body-1">
            <a:extLst>
              <a:ext uri="{FF2B5EF4-FFF2-40B4-BE49-F238E27FC236}">
                <a16:creationId xmlns:a16="http://schemas.microsoft.com/office/drawing/2014/main" id="{0E93EF92-4758-46B3-B26E-F6E2E62D0EB2}"/>
              </a:ext>
            </a:extLst>
          </p:cNvPr>
          <p:cNvSpPr>
            <a:spLocks noGrp="1"/>
          </p:cNvSpPr>
          <p:nvPr/>
        </p:nvSpPr>
        <p:spPr>
          <a:xfrm>
            <a:off x="3600450" y="4095750"/>
            <a:ext cx="1962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JPEG、类别、像素 x/y</a:t>
            </a:r>
          </a:p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以及深度 z 与失联提示</a:t>
            </a:r>
          </a:p>
        </p:txBody>
      </p:sp>
      <p:sp>
        <p:nvSpPr>
          <p:cNvPr id="16" name="real-demo-step-2">
            <a:extLst>
              <a:ext uri="{FF2B5EF4-FFF2-40B4-BE49-F238E27FC236}">
                <a16:creationId xmlns:a16="http://schemas.microsoft.com/office/drawing/2014/main" id="{F905D1AE-73B8-4854-9E55-E060CA1C5EAF}"/>
              </a:ext>
            </a:extLst>
          </p:cNvPr>
          <p:cNvSpPr>
            <a:spLocks noGrp="1"/>
          </p:cNvSpPr>
          <p:nvPr/>
        </p:nvSpPr>
        <p:spPr>
          <a:xfrm>
            <a:off x="6267450" y="2305050"/>
            <a:ext cx="2381250" cy="2781300"/>
          </a:xfrm>
          <a:prstGeom prst="roundRect">
            <a:avLst>
              <a:gd name="adj" fmla="val 4800"/>
            </a:avLst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al-demo-num-2">
            <a:extLst>
              <a:ext uri="{FF2B5EF4-FFF2-40B4-BE49-F238E27FC236}">
                <a16:creationId xmlns:a16="http://schemas.microsoft.com/office/drawing/2014/main" id="{9F2BD90C-5C86-431D-844D-6D2C786997A9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real-demo-title-2">
            <a:extLst>
              <a:ext uri="{FF2B5EF4-FFF2-40B4-BE49-F238E27FC236}">
                <a16:creationId xmlns:a16="http://schemas.microsoft.com/office/drawing/2014/main" id="{BDAE58AD-9423-4F25-9EED-803721F049C0}"/>
              </a:ext>
            </a:extLst>
          </p:cNvPr>
          <p:cNvSpPr>
            <a:spLocks noGrp="1"/>
          </p:cNvSpPr>
          <p:nvPr/>
        </p:nvSpPr>
        <p:spPr>
          <a:xfrm>
            <a:off x="6477000" y="3257550"/>
            <a:ext cx="1962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扫描串口</a:t>
            </a:r>
          </a:p>
        </p:txBody>
      </p:sp>
      <p:sp>
        <p:nvSpPr>
          <p:cNvPr id="19" name="real-demo-body-2">
            <a:extLst>
              <a:ext uri="{FF2B5EF4-FFF2-40B4-BE49-F238E27FC236}">
                <a16:creationId xmlns:a16="http://schemas.microsoft.com/office/drawing/2014/main" id="{6431CFBC-3195-4D86-A20A-09956F24808A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1962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66"/>
          </a:bodyPr>
          <a:lstStyle/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运行 scan_serial_ports.bat</a:t>
            </a:r>
          </a:p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证明当前无 USB-UART 候选</a:t>
            </a:r>
          </a:p>
        </p:txBody>
      </p:sp>
      <p:sp>
        <p:nvSpPr>
          <p:cNvPr id="20" name="real-demo-step-3">
            <a:extLst>
              <a:ext uri="{FF2B5EF4-FFF2-40B4-BE49-F238E27FC236}">
                <a16:creationId xmlns:a16="http://schemas.microsoft.com/office/drawing/2014/main" id="{EB803785-C637-49A9-A8CC-E0FD381934C7}"/>
              </a:ext>
            </a:extLst>
          </p:cNvPr>
          <p:cNvSpPr>
            <a:spLocks noGrp="1"/>
          </p:cNvSpPr>
          <p:nvPr/>
        </p:nvSpPr>
        <p:spPr>
          <a:xfrm>
            <a:off x="9144000" y="2305050"/>
            <a:ext cx="2381250" cy="2781300"/>
          </a:xfrm>
          <a:prstGeom prst="roundRect">
            <a:avLst>
              <a:gd name="adj" fmla="val 4800"/>
            </a:avLst>
          </a:prstGeom>
          <a:solidFill>
            <a:srgbClr val="FCE6CC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real-demo-num-3">
            <a:extLst>
              <a:ext uri="{FF2B5EF4-FFF2-40B4-BE49-F238E27FC236}">
                <a16:creationId xmlns:a16="http://schemas.microsoft.com/office/drawing/2014/main" id="{3A830142-3EF3-4946-8ECA-EB22DEEAEA57}"/>
              </a:ext>
            </a:extLst>
          </p:cNvPr>
          <p:cNvSpPr>
            <a:spLocks noGrp="1"/>
          </p:cNvSpPr>
          <p:nvPr/>
        </p:nvSpPr>
        <p:spPr>
          <a:xfrm>
            <a:off x="9353550" y="2571750"/>
            <a:ext cx="66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real-demo-title-3">
            <a:extLst>
              <a:ext uri="{FF2B5EF4-FFF2-40B4-BE49-F238E27FC236}">
                <a16:creationId xmlns:a16="http://schemas.microsoft.com/office/drawing/2014/main" id="{18C22DE2-7FB2-43E0-9948-82B5902D447C}"/>
              </a:ext>
            </a:extLst>
          </p:cNvPr>
          <p:cNvSpPr>
            <a:spLocks noGrp="1"/>
          </p:cNvSpPr>
          <p:nvPr/>
        </p:nvSpPr>
        <p:spPr>
          <a:xfrm>
            <a:off x="9353550" y="3257550"/>
            <a:ext cx="1962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展示协议工具</a:t>
            </a:r>
          </a:p>
        </p:txBody>
      </p:sp>
      <p:sp>
        <p:nvSpPr>
          <p:cNvPr id="23" name="real-demo-body-3">
            <a:extLst>
              <a:ext uri="{FF2B5EF4-FFF2-40B4-BE49-F238E27FC236}">
                <a16:creationId xmlns:a16="http://schemas.microsoft.com/office/drawing/2014/main" id="{6592D5B3-74F0-414F-A77A-BB0D18292C99}"/>
              </a:ext>
            </a:extLst>
          </p:cNvPr>
          <p:cNvSpPr>
            <a:spLocks noGrp="1"/>
          </p:cNvSpPr>
          <p:nvPr/>
        </p:nvSpPr>
        <p:spPr>
          <a:xfrm>
            <a:off x="9353550" y="4095750"/>
            <a:ext cx="1962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离线编码 / 解码 / 捕获解析</a:t>
            </a:r>
          </a:p>
          <a:p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真机仅允许 J1 只读监视</a:t>
            </a:r>
          </a:p>
        </p:txBody>
      </p:sp>
      <p:sp>
        <p:nvSpPr>
          <p:cNvPr id="24" name="real-demo-lock-panel">
            <a:extLst>
              <a:ext uri="{FF2B5EF4-FFF2-40B4-BE49-F238E27FC236}">
                <a16:creationId xmlns:a16="http://schemas.microsoft.com/office/drawing/2014/main" id="{C4812F9C-9D20-4D5D-9330-FB40D2658EF9}"/>
              </a:ext>
            </a:extLst>
          </p:cNvPr>
          <p:cNvSpPr>
            <a:spLocks noGrp="1"/>
          </p:cNvSpPr>
          <p:nvPr/>
        </p:nvSpPr>
        <p:spPr>
          <a:xfrm>
            <a:off x="514350" y="5495925"/>
            <a:ext cx="11010900" cy="704850"/>
          </a:xfrm>
          <a:prstGeom prst="roundRect">
            <a:avLst>
              <a:gd name="adj" fmla="val 10811"/>
            </a:avLst>
          </a:prstGeom>
          <a:solidFill>
            <a:srgbClr val="FBE1E1"/>
          </a:solidFill>
          <a:ln w="0">
            <a:noFill/>
            <a:prstDash val="solid"/>
          </a:ln>
        </p:spPr>
      </p:sp>
      <p:sp>
        <p:nvSpPr>
          <p:cNvPr id="25" name="real-demo-lock-text">
            <a:extLst>
              <a:ext uri="{FF2B5EF4-FFF2-40B4-BE49-F238E27FC236}">
                <a16:creationId xmlns:a16="http://schemas.microsoft.com/office/drawing/2014/main" id="{85A06243-0B3D-45C3-8EBC-C4D847523CF8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10429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执行按钮保持锁定：当前演示验证的是上位机接口与安全行为，不是假装已经具备真机闭环。</a:t>
            </a:r>
          </a:p>
        </p:txBody>
      </p:sp>
    </p:spTree>
    <p:extLst>
      <p:ext uri="{BB962C8B-B14F-4D97-AF65-F5344CB8AC3E}">
        <p14:creationId xmlns:p14="http://schemas.microsoft.com/office/powerpoint/2010/main" val="865632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kicker-9">
            <a:extLst>
              <a:ext uri="{FF2B5EF4-FFF2-40B4-BE49-F238E27FC236}">
                <a16:creationId xmlns:a16="http://schemas.microsoft.com/office/drawing/2014/main" id="{69DE9F3F-92AB-4A35-804A-4C9D7752BC4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A979B028-1144-4EC7-AA5B-79B670E6E51C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096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真机未完成部署：控制闭环与安全依据仍缺失</a:t>
            </a:r>
          </a:p>
        </p:txBody>
      </p:sp>
      <p:cxnSp>
        <p:nvCxnSpPr>
          <p:cNvPr id="49" name="rule-9"/>
          <p:cNvCxnSpPr/>
          <p:nvPr/>
        </p:nvCxnSpPr>
        <p:spPr>
          <a:xfrm>
            <a:off x="514350" y="1381125"/>
            <a:ext cx="11163300" cy="0"/>
          </a:xfrm>
          <a:prstGeom prst="straightConnector1">
            <a:avLst/>
          </a:prstGeom>
          <a:ln w="9525">
            <a:solidFill>
              <a:srgbClr val="111111"/>
            </a:solidFill>
            <a:prstDash val="solid"/>
          </a:ln>
        </p:spPr>
      </p:cxnSp>
      <p:sp>
        <p:nvSpPr>
          <p:cNvPr id="4" name="page-9">
            <a:extLst>
              <a:ext uri="{FF2B5EF4-FFF2-40B4-BE49-F238E27FC236}">
                <a16:creationId xmlns:a16="http://schemas.microsoft.com/office/drawing/2014/main" id="{ED81725B-C464-460C-867A-2DEABF35FB84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blocker-context">
            <a:extLst>
              <a:ext uri="{FF2B5EF4-FFF2-40B4-BE49-F238E27FC236}">
                <a16:creationId xmlns:a16="http://schemas.microsoft.com/office/drawing/2014/main" id="{19CE7B75-8796-4C22-A53C-03B40E30C677}"/>
              </a:ext>
            </a:extLst>
          </p:cNvPr>
          <p:cNvSpPr>
            <a:spLocks noGrp="1"/>
          </p:cNvSpPr>
          <p:nvPr/>
        </p:nvSpPr>
        <p:spPr>
          <a:xfrm>
            <a:off x="514350" y="1600200"/>
            <a:ext cx="1085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所有阻塞项都来自现有资料和现场检查；在它们闭环前开放写控制会把软件问题变成人身与设备风险。</a:t>
            </a:r>
          </a:p>
        </p:txBody>
      </p:sp>
      <p:sp>
        <p:nvSpPr>
          <p:cNvPr id="6" name="block-head-0">
            <a:extLst>
              <a:ext uri="{FF2B5EF4-FFF2-40B4-BE49-F238E27FC236}">
                <a16:creationId xmlns:a16="http://schemas.microsoft.com/office/drawing/2014/main" id="{F38DD022-E67A-4DE1-B356-438BF736CFD6}"/>
              </a:ext>
            </a:extLst>
          </p:cNvPr>
          <p:cNvSpPr>
            <a:spLocks noGrp="1"/>
          </p:cNvSpPr>
          <p:nvPr/>
        </p:nvSpPr>
        <p:spPr>
          <a:xfrm>
            <a:off x="514350" y="2343150"/>
            <a:ext cx="1819275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block-head-text-0">
            <a:extLst>
              <a:ext uri="{FF2B5EF4-FFF2-40B4-BE49-F238E27FC236}">
                <a16:creationId xmlns:a16="http://schemas.microsoft.com/office/drawing/2014/main" id="{AD90E186-2F21-4DD6-A17C-BCA59CF09EF3}"/>
              </a:ext>
            </a:extLst>
          </p:cNvPr>
          <p:cNvSpPr>
            <a:spLocks noGrp="1"/>
          </p:cNvSpPr>
          <p:nvPr/>
        </p:nvSpPr>
        <p:spPr>
          <a:xfrm>
            <a:off x="628650" y="2476500"/>
            <a:ext cx="1590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阻塞项</a:t>
            </a:r>
          </a:p>
        </p:txBody>
      </p:sp>
      <p:sp>
        <p:nvSpPr>
          <p:cNvPr id="8" name="block-head-1">
            <a:extLst>
              <a:ext uri="{FF2B5EF4-FFF2-40B4-BE49-F238E27FC236}">
                <a16:creationId xmlns:a16="http://schemas.microsoft.com/office/drawing/2014/main" id="{D8A89E39-6057-4791-8462-2A9375DA081E}"/>
              </a:ext>
            </a:extLst>
          </p:cNvPr>
          <p:cNvSpPr>
            <a:spLocks noGrp="1"/>
          </p:cNvSpPr>
          <p:nvPr/>
        </p:nvSpPr>
        <p:spPr>
          <a:xfrm>
            <a:off x="2333625" y="2343150"/>
            <a:ext cx="4105275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block-head-text-1">
            <a:extLst>
              <a:ext uri="{FF2B5EF4-FFF2-40B4-BE49-F238E27FC236}">
                <a16:creationId xmlns:a16="http://schemas.microsoft.com/office/drawing/2014/main" id="{4BD77E0D-684F-4481-99C8-63CE258072B9}"/>
              </a:ext>
            </a:extLst>
          </p:cNvPr>
          <p:cNvSpPr>
            <a:spLocks noGrp="1"/>
          </p:cNvSpPr>
          <p:nvPr/>
        </p:nvSpPr>
        <p:spPr>
          <a:xfrm>
            <a:off x="2447925" y="2476500"/>
            <a:ext cx="3876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当前证据</a:t>
            </a:r>
          </a:p>
        </p:txBody>
      </p:sp>
      <p:sp>
        <p:nvSpPr>
          <p:cNvPr id="10" name="block-head-2">
            <a:extLst>
              <a:ext uri="{FF2B5EF4-FFF2-40B4-BE49-F238E27FC236}">
                <a16:creationId xmlns:a16="http://schemas.microsoft.com/office/drawing/2014/main" id="{ECC1539E-8E34-4615-955C-BD8D79194F83}"/>
              </a:ext>
            </a:extLst>
          </p:cNvPr>
          <p:cNvSpPr>
            <a:spLocks noGrp="1"/>
          </p:cNvSpPr>
          <p:nvPr/>
        </p:nvSpPr>
        <p:spPr>
          <a:xfrm>
            <a:off x="6438900" y="2343150"/>
            <a:ext cx="308610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block-head-text-2">
            <a:extLst>
              <a:ext uri="{FF2B5EF4-FFF2-40B4-BE49-F238E27FC236}">
                <a16:creationId xmlns:a16="http://schemas.microsoft.com/office/drawing/2014/main" id="{CC82151C-2D96-4901-82F3-EBEE36031B8D}"/>
              </a:ext>
            </a:extLst>
          </p:cNvPr>
          <p:cNvSpPr>
            <a:spLocks noGrp="1"/>
          </p:cNvSpPr>
          <p:nvPr/>
        </p:nvSpPr>
        <p:spPr>
          <a:xfrm>
            <a:off x="6553200" y="2476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缺失闭环</a:t>
            </a:r>
          </a:p>
        </p:txBody>
      </p:sp>
      <p:sp>
        <p:nvSpPr>
          <p:cNvPr id="12" name="block-head-3">
            <a:extLst>
              <a:ext uri="{FF2B5EF4-FFF2-40B4-BE49-F238E27FC236}">
                <a16:creationId xmlns:a16="http://schemas.microsoft.com/office/drawing/2014/main" id="{CD0471EC-F1DC-423B-ACE9-BF6B8A0684F1}"/>
              </a:ext>
            </a:extLst>
          </p:cNvPr>
          <p:cNvSpPr>
            <a:spLocks noGrp="1"/>
          </p:cNvSpPr>
          <p:nvPr/>
        </p:nvSpPr>
        <p:spPr>
          <a:xfrm>
            <a:off x="9525000" y="2343150"/>
            <a:ext cx="21526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block-head-text-3">
            <a:extLst>
              <a:ext uri="{FF2B5EF4-FFF2-40B4-BE49-F238E27FC236}">
                <a16:creationId xmlns:a16="http://schemas.microsoft.com/office/drawing/2014/main" id="{A2DDEFE5-9BA1-4FAF-9897-BB4184594532}"/>
              </a:ext>
            </a:extLst>
          </p:cNvPr>
          <p:cNvSpPr>
            <a:spLocks noGrp="1"/>
          </p:cNvSpPr>
          <p:nvPr/>
        </p:nvSpPr>
        <p:spPr>
          <a:xfrm>
            <a:off x="9639300" y="247650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4" name="block-cell-0-0">
            <a:extLst>
              <a:ext uri="{FF2B5EF4-FFF2-40B4-BE49-F238E27FC236}">
                <a16:creationId xmlns:a16="http://schemas.microsoft.com/office/drawing/2014/main" id="{25FF1EB5-83F6-4C4A-ACF6-505D2A0A22C9}"/>
              </a:ext>
            </a:extLst>
          </p:cNvPr>
          <p:cNvSpPr>
            <a:spLocks noGrp="1"/>
          </p:cNvSpPr>
          <p:nvPr/>
        </p:nvSpPr>
        <p:spPr>
          <a:xfrm>
            <a:off x="514350" y="2857500"/>
            <a:ext cx="1819275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block-cell-text-0-0">
            <a:extLst>
              <a:ext uri="{FF2B5EF4-FFF2-40B4-BE49-F238E27FC236}">
                <a16:creationId xmlns:a16="http://schemas.microsoft.com/office/drawing/2014/main" id="{B0CCE350-9E74-424E-9837-F3C99F591A6D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628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视觉标定</a:t>
            </a:r>
          </a:p>
        </p:txBody>
      </p:sp>
      <p:sp>
        <p:nvSpPr>
          <p:cNvPr id="16" name="block-cell-0-1">
            <a:extLst>
              <a:ext uri="{FF2B5EF4-FFF2-40B4-BE49-F238E27FC236}">
                <a16:creationId xmlns:a16="http://schemas.microsoft.com/office/drawing/2014/main" id="{43949BF0-738E-4510-BE6D-9F16A6ED9BD3}"/>
              </a:ext>
            </a:extLst>
          </p:cNvPr>
          <p:cNvSpPr>
            <a:spLocks noGrp="1"/>
          </p:cNvSpPr>
          <p:nvPr/>
        </p:nvSpPr>
        <p:spPr>
          <a:xfrm>
            <a:off x="2333625" y="2857500"/>
            <a:ext cx="4105275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block-cell-text-0-1">
            <a:extLst>
              <a:ext uri="{FF2B5EF4-FFF2-40B4-BE49-F238E27FC236}">
                <a16:creationId xmlns:a16="http://schemas.microsoft.com/office/drawing/2014/main" id="{4FA9AF4D-9D5F-403F-AA22-D125A7FDB61F}"/>
              </a:ext>
            </a:extLst>
          </p:cNvPr>
          <p:cNvSpPr>
            <a:spLocks noGrp="1"/>
          </p:cNvSpPr>
          <p:nvPr/>
        </p:nvSpPr>
        <p:spPr>
          <a:xfrm>
            <a:off x="2428875" y="2952750"/>
            <a:ext cx="3914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x/y 是像素，z 是深度</a:t>
            </a:r>
          </a:p>
        </p:txBody>
      </p:sp>
      <p:sp>
        <p:nvSpPr>
          <p:cNvPr id="18" name="block-cell-0-2">
            <a:extLst>
              <a:ext uri="{FF2B5EF4-FFF2-40B4-BE49-F238E27FC236}">
                <a16:creationId xmlns:a16="http://schemas.microsoft.com/office/drawing/2014/main" id="{D618BF58-6C54-4FA8-9002-3A7AF3093BD1}"/>
              </a:ext>
            </a:extLst>
          </p:cNvPr>
          <p:cNvSpPr>
            <a:spLocks noGrp="1"/>
          </p:cNvSpPr>
          <p:nvPr/>
        </p:nvSpPr>
        <p:spPr>
          <a:xfrm>
            <a:off x="6438900" y="2857500"/>
            <a:ext cx="3086100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block-cell-text-0-2">
            <a:extLst>
              <a:ext uri="{FF2B5EF4-FFF2-40B4-BE49-F238E27FC236}">
                <a16:creationId xmlns:a16="http://schemas.microsoft.com/office/drawing/2014/main" id="{BD454CFE-2096-414C-B83B-68674F5C3A4B}"/>
              </a:ext>
            </a:extLst>
          </p:cNvPr>
          <p:cNvSpPr>
            <a:spLocks noGrp="1"/>
          </p:cNvSpPr>
          <p:nvPr/>
        </p:nvSpPr>
        <p:spPr>
          <a:xfrm>
            <a:off x="6534150" y="29527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内参、手眼外参、base_link 三维点</a:t>
            </a:r>
          </a:p>
        </p:txBody>
      </p:sp>
      <p:sp>
        <p:nvSpPr>
          <p:cNvPr id="20" name="block-cell-0-3">
            <a:extLst>
              <a:ext uri="{FF2B5EF4-FFF2-40B4-BE49-F238E27FC236}">
                <a16:creationId xmlns:a16="http://schemas.microsoft.com/office/drawing/2014/main" id="{3914A119-9D9E-47F2-AAEC-F34E24E2583F}"/>
              </a:ext>
            </a:extLst>
          </p:cNvPr>
          <p:cNvSpPr>
            <a:spLocks noGrp="1"/>
          </p:cNvSpPr>
          <p:nvPr/>
        </p:nvSpPr>
        <p:spPr>
          <a:xfrm>
            <a:off x="9525000" y="2857500"/>
            <a:ext cx="2152650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block-cell-text-0-3">
            <a:extLst>
              <a:ext uri="{FF2B5EF4-FFF2-40B4-BE49-F238E27FC236}">
                <a16:creationId xmlns:a16="http://schemas.microsoft.com/office/drawing/2014/main" id="{35597F2F-6F74-4282-8E5E-59B2E9A61DC9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抓错位置</a:t>
            </a:r>
          </a:p>
        </p:txBody>
      </p:sp>
      <p:sp>
        <p:nvSpPr>
          <p:cNvPr id="22" name="block-cell-1-0">
            <a:extLst>
              <a:ext uri="{FF2B5EF4-FFF2-40B4-BE49-F238E27FC236}">
                <a16:creationId xmlns:a16="http://schemas.microsoft.com/office/drawing/2014/main" id="{DF404D13-DC28-4E89-AE8A-DAC50C5390CF}"/>
              </a:ext>
            </a:extLst>
          </p:cNvPr>
          <p:cNvSpPr>
            <a:spLocks noGrp="1"/>
          </p:cNvSpPr>
          <p:nvPr/>
        </p:nvSpPr>
        <p:spPr>
          <a:xfrm>
            <a:off x="514350" y="3562350"/>
            <a:ext cx="181927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block-cell-text-1-0">
            <a:extLst>
              <a:ext uri="{FF2B5EF4-FFF2-40B4-BE49-F238E27FC236}">
                <a16:creationId xmlns:a16="http://schemas.microsoft.com/office/drawing/2014/main" id="{99836B6A-C9CB-43C7-BE90-8F58AEFC00B2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1628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固件闭环</a:t>
            </a:r>
          </a:p>
        </p:txBody>
      </p:sp>
      <p:sp>
        <p:nvSpPr>
          <p:cNvPr id="24" name="block-cell-1-1">
            <a:extLst>
              <a:ext uri="{FF2B5EF4-FFF2-40B4-BE49-F238E27FC236}">
                <a16:creationId xmlns:a16="http://schemas.microsoft.com/office/drawing/2014/main" id="{B2895E03-E4CE-4152-8754-D64AF4F20A77}"/>
              </a:ext>
            </a:extLst>
          </p:cNvPr>
          <p:cNvSpPr>
            <a:spLocks noGrp="1"/>
          </p:cNvSpPr>
          <p:nvPr/>
        </p:nvSpPr>
        <p:spPr>
          <a:xfrm>
            <a:off x="2333625" y="3562350"/>
            <a:ext cx="410527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block-cell-text-1-1">
            <a:extLst>
              <a:ext uri="{FF2B5EF4-FFF2-40B4-BE49-F238E27FC236}">
                <a16:creationId xmlns:a16="http://schemas.microsoft.com/office/drawing/2014/main" id="{FA4FE560-8359-40ED-B9D8-12693177366A}"/>
              </a:ext>
            </a:extLst>
          </p:cNvPr>
          <p:cNvSpPr>
            <a:spLocks noGrp="1"/>
          </p:cNvSpPr>
          <p:nvPr/>
        </p:nvSpPr>
        <p:spPr>
          <a:xfrm>
            <a:off x="2428875" y="3657600"/>
            <a:ext cx="3914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仅回传 J1；pc_data 未驱动电机</a:t>
            </a:r>
          </a:p>
        </p:txBody>
      </p:sp>
      <p:sp>
        <p:nvSpPr>
          <p:cNvPr id="26" name="block-cell-1-2">
            <a:extLst>
              <a:ext uri="{FF2B5EF4-FFF2-40B4-BE49-F238E27FC236}">
                <a16:creationId xmlns:a16="http://schemas.microsoft.com/office/drawing/2014/main" id="{2F0C8145-2C3B-4378-8FA6-259DCC89801D}"/>
              </a:ext>
            </a:extLst>
          </p:cNvPr>
          <p:cNvSpPr>
            <a:spLocks noGrp="1"/>
          </p:cNvSpPr>
          <p:nvPr/>
        </p:nvSpPr>
        <p:spPr>
          <a:xfrm>
            <a:off x="6438900" y="3562350"/>
            <a:ext cx="30861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block-cell-text-1-2">
            <a:extLst>
              <a:ext uri="{FF2B5EF4-FFF2-40B4-BE49-F238E27FC236}">
                <a16:creationId xmlns:a16="http://schemas.microsoft.com/office/drawing/2014/main" id="{CB7B7F2E-4A8E-4DE9-8032-15289F7102BC}"/>
              </a:ext>
            </a:extLst>
          </p:cNvPr>
          <p:cNvSpPr>
            <a:spLocks noGrp="1"/>
          </p:cNvSpPr>
          <p:nvPr/>
        </p:nvSpPr>
        <p:spPr>
          <a:xfrm>
            <a:off x="6534150" y="365760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 关节命令/遥测、ACK、看门狗</a:t>
            </a:r>
          </a:p>
        </p:txBody>
      </p:sp>
      <p:sp>
        <p:nvSpPr>
          <p:cNvPr id="28" name="block-cell-1-3">
            <a:extLst>
              <a:ext uri="{FF2B5EF4-FFF2-40B4-BE49-F238E27FC236}">
                <a16:creationId xmlns:a16="http://schemas.microsoft.com/office/drawing/2014/main" id="{B264051C-8032-46F3-8DDB-7C3E3780ECA5}"/>
              </a:ext>
            </a:extLst>
          </p:cNvPr>
          <p:cNvSpPr>
            <a:spLocks noGrp="1"/>
          </p:cNvSpPr>
          <p:nvPr/>
        </p:nvSpPr>
        <p:spPr>
          <a:xfrm>
            <a:off x="9525000" y="3562350"/>
            <a:ext cx="21526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block-cell-text-1-3">
            <a:extLst>
              <a:ext uri="{FF2B5EF4-FFF2-40B4-BE49-F238E27FC236}">
                <a16:creationId xmlns:a16="http://schemas.microsoft.com/office/drawing/2014/main" id="{198BEFDF-174C-45C8-B8A9-A33A08FF17ED}"/>
              </a:ext>
            </a:extLst>
          </p:cNvPr>
          <p:cNvSpPr>
            <a:spLocks noGrp="1"/>
          </p:cNvSpPr>
          <p:nvPr/>
        </p:nvSpPr>
        <p:spPr>
          <a:xfrm>
            <a:off x="9620250" y="36576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失控或不可验证</a:t>
            </a:r>
          </a:p>
        </p:txBody>
      </p:sp>
      <p:sp>
        <p:nvSpPr>
          <p:cNvPr id="30" name="block-cell-2-0">
            <a:extLst>
              <a:ext uri="{FF2B5EF4-FFF2-40B4-BE49-F238E27FC236}">
                <a16:creationId xmlns:a16="http://schemas.microsoft.com/office/drawing/2014/main" id="{42141F7E-B463-49B3-B150-B340F5CFD327}"/>
              </a:ext>
            </a:extLst>
          </p:cNvPr>
          <p:cNvSpPr>
            <a:spLocks noGrp="1"/>
          </p:cNvSpPr>
          <p:nvPr/>
        </p:nvSpPr>
        <p:spPr>
          <a:xfrm>
            <a:off x="514350" y="4267200"/>
            <a:ext cx="1819275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block-cell-text-2-0">
            <a:extLst>
              <a:ext uri="{FF2B5EF4-FFF2-40B4-BE49-F238E27FC236}">
                <a16:creationId xmlns:a16="http://schemas.microsoft.com/office/drawing/2014/main" id="{7BBD3651-81F3-44A8-99F8-CEA63E6716F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628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关节映射</a:t>
            </a:r>
          </a:p>
        </p:txBody>
      </p:sp>
      <p:sp>
        <p:nvSpPr>
          <p:cNvPr id="32" name="block-cell-2-1">
            <a:extLst>
              <a:ext uri="{FF2B5EF4-FFF2-40B4-BE49-F238E27FC236}">
                <a16:creationId xmlns:a16="http://schemas.microsoft.com/office/drawing/2014/main" id="{7BAB9C64-1F0D-4E56-BC4A-795452FF6C95}"/>
              </a:ext>
            </a:extLst>
          </p:cNvPr>
          <p:cNvSpPr>
            <a:spLocks noGrp="1"/>
          </p:cNvSpPr>
          <p:nvPr/>
        </p:nvSpPr>
        <p:spPr>
          <a:xfrm>
            <a:off x="2333625" y="4267200"/>
            <a:ext cx="4105275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block-cell-text-2-1">
            <a:extLst>
              <a:ext uri="{FF2B5EF4-FFF2-40B4-BE49-F238E27FC236}">
                <a16:creationId xmlns:a16="http://schemas.microsoft.com/office/drawing/2014/main" id="{B3397692-5E20-42B3-9C50-FC6625F5C8ED}"/>
              </a:ext>
            </a:extLst>
          </p:cNvPr>
          <p:cNvSpPr>
            <a:spLocks noGrp="1"/>
          </p:cNvSpPr>
          <p:nvPr/>
        </p:nvSpPr>
        <p:spPr>
          <a:xfrm>
            <a:off x="2428875" y="4362450"/>
            <a:ext cx="3914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CAN ID、路由和方向端点已知</a:t>
            </a:r>
          </a:p>
        </p:txBody>
      </p:sp>
      <p:sp>
        <p:nvSpPr>
          <p:cNvPr id="34" name="block-cell-2-2">
            <a:extLst>
              <a:ext uri="{FF2B5EF4-FFF2-40B4-BE49-F238E27FC236}">
                <a16:creationId xmlns:a16="http://schemas.microsoft.com/office/drawing/2014/main" id="{B61F10DE-208A-4438-8ECE-224E5EBE3460}"/>
              </a:ext>
            </a:extLst>
          </p:cNvPr>
          <p:cNvSpPr>
            <a:spLocks noGrp="1"/>
          </p:cNvSpPr>
          <p:nvPr/>
        </p:nvSpPr>
        <p:spPr>
          <a:xfrm>
            <a:off x="6438900" y="4267200"/>
            <a:ext cx="3086100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block-cell-text-2-2">
            <a:extLst>
              <a:ext uri="{FF2B5EF4-FFF2-40B4-BE49-F238E27FC236}">
                <a16:creationId xmlns:a16="http://schemas.microsoft.com/office/drawing/2014/main" id="{E85D3902-4C52-49AD-A929-EF5C590B4EF8}"/>
              </a:ext>
            </a:extLst>
          </p:cNvPr>
          <p:cNvSpPr>
            <a:spLocks noGrp="1"/>
          </p:cNvSpPr>
          <p:nvPr/>
        </p:nvSpPr>
        <p:spPr>
          <a:xfrm>
            <a:off x="6534150" y="43624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机械零位、符号、偏置与低速实测</a:t>
            </a:r>
          </a:p>
        </p:txBody>
      </p:sp>
      <p:sp>
        <p:nvSpPr>
          <p:cNvPr id="36" name="block-cell-2-3">
            <a:extLst>
              <a:ext uri="{FF2B5EF4-FFF2-40B4-BE49-F238E27FC236}">
                <a16:creationId xmlns:a16="http://schemas.microsoft.com/office/drawing/2014/main" id="{8DA8DC30-9BEA-4682-A22F-EAC3DA54E57C}"/>
              </a:ext>
            </a:extLst>
          </p:cNvPr>
          <p:cNvSpPr>
            <a:spLocks noGrp="1"/>
          </p:cNvSpPr>
          <p:nvPr/>
        </p:nvSpPr>
        <p:spPr>
          <a:xfrm>
            <a:off x="9525000" y="4267200"/>
            <a:ext cx="2152650" cy="704850"/>
          </a:xfrm>
          <a:prstGeom prst="rect">
            <a:avLst/>
          </a:prstGeom>
          <a:solidFill>
            <a:srgbClr val="F6F7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block-cell-text-2-3">
            <a:extLst>
              <a:ext uri="{FF2B5EF4-FFF2-40B4-BE49-F238E27FC236}">
                <a16:creationId xmlns:a16="http://schemas.microsoft.com/office/drawing/2014/main" id="{4547FFB5-B3B5-4AD7-BEC6-A1163CB6A2DB}"/>
              </a:ext>
            </a:extLst>
          </p:cNvPr>
          <p:cNvSpPr>
            <a:spLocks noGrp="1"/>
          </p:cNvSpPr>
          <p:nvPr/>
        </p:nvSpPr>
        <p:spPr>
          <a:xfrm>
            <a:off x="9620250" y="43624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越限 / 碰撞</a:t>
            </a:r>
          </a:p>
        </p:txBody>
      </p:sp>
      <p:sp>
        <p:nvSpPr>
          <p:cNvPr id="38" name="block-cell-3-0">
            <a:extLst>
              <a:ext uri="{FF2B5EF4-FFF2-40B4-BE49-F238E27FC236}">
                <a16:creationId xmlns:a16="http://schemas.microsoft.com/office/drawing/2014/main" id="{B79BE8E6-A4F4-4236-8982-D09C45EA0809}"/>
              </a:ext>
            </a:extLst>
          </p:cNvPr>
          <p:cNvSpPr>
            <a:spLocks noGrp="1"/>
          </p:cNvSpPr>
          <p:nvPr/>
        </p:nvSpPr>
        <p:spPr>
          <a:xfrm>
            <a:off x="514350" y="4972050"/>
            <a:ext cx="181927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block-cell-text-3-0">
            <a:extLst>
              <a:ext uri="{FF2B5EF4-FFF2-40B4-BE49-F238E27FC236}">
                <a16:creationId xmlns:a16="http://schemas.microsoft.com/office/drawing/2014/main" id="{4B2FF712-6698-444D-B09A-442D2D1446A6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1628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硬件安全</a:t>
            </a:r>
          </a:p>
        </p:txBody>
      </p:sp>
      <p:sp>
        <p:nvSpPr>
          <p:cNvPr id="40" name="block-cell-3-1">
            <a:extLst>
              <a:ext uri="{FF2B5EF4-FFF2-40B4-BE49-F238E27FC236}">
                <a16:creationId xmlns:a16="http://schemas.microsoft.com/office/drawing/2014/main" id="{D54AFFB9-BA58-47D4-AD9B-1A29BE33823F}"/>
              </a:ext>
            </a:extLst>
          </p:cNvPr>
          <p:cNvSpPr>
            <a:spLocks noGrp="1"/>
          </p:cNvSpPr>
          <p:nvPr/>
        </p:nvSpPr>
        <p:spPr>
          <a:xfrm>
            <a:off x="2333625" y="4972050"/>
            <a:ext cx="410527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block-cell-text-3-1">
            <a:extLst>
              <a:ext uri="{FF2B5EF4-FFF2-40B4-BE49-F238E27FC236}">
                <a16:creationId xmlns:a16="http://schemas.microsoft.com/office/drawing/2014/main" id="{EAC35239-5193-415F-A972-FFA4D5F44A40}"/>
              </a:ext>
            </a:extLst>
          </p:cNvPr>
          <p:cNvSpPr>
            <a:spLocks noGrp="1"/>
          </p:cNvSpPr>
          <p:nvPr/>
        </p:nvSpPr>
        <p:spPr>
          <a:xfrm>
            <a:off x="2428875" y="5067300"/>
            <a:ext cx="39147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3.3V TTL、115200 已确认</a:t>
            </a:r>
          </a:p>
        </p:txBody>
      </p:sp>
      <p:sp>
        <p:nvSpPr>
          <p:cNvPr id="42" name="block-cell-3-2">
            <a:extLst>
              <a:ext uri="{FF2B5EF4-FFF2-40B4-BE49-F238E27FC236}">
                <a16:creationId xmlns:a16="http://schemas.microsoft.com/office/drawing/2014/main" id="{F3498409-DC03-441A-817C-096D49AE82F4}"/>
              </a:ext>
            </a:extLst>
          </p:cNvPr>
          <p:cNvSpPr>
            <a:spLocks noGrp="1"/>
          </p:cNvSpPr>
          <p:nvPr/>
        </p:nvSpPr>
        <p:spPr>
          <a:xfrm>
            <a:off x="6438900" y="4972050"/>
            <a:ext cx="30861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block-cell-text-3-2">
            <a:extLst>
              <a:ext uri="{FF2B5EF4-FFF2-40B4-BE49-F238E27FC236}">
                <a16:creationId xmlns:a16="http://schemas.microsoft.com/office/drawing/2014/main" id="{2394F455-63B5-45D2-ACE7-10C27CA47A7B}"/>
              </a:ext>
            </a:extLst>
          </p:cNvPr>
          <p:cNvSpPr>
            <a:spLocks noGrp="1"/>
          </p:cNvSpPr>
          <p:nvPr/>
        </p:nvSpPr>
        <p:spPr>
          <a:xfrm>
            <a:off x="6534150" y="506730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USB-UART、物理急停、断电回路</a:t>
            </a:r>
          </a:p>
        </p:txBody>
      </p:sp>
      <p:sp>
        <p:nvSpPr>
          <p:cNvPr id="44" name="block-cell-3-3">
            <a:extLst>
              <a:ext uri="{FF2B5EF4-FFF2-40B4-BE49-F238E27FC236}">
                <a16:creationId xmlns:a16="http://schemas.microsoft.com/office/drawing/2014/main" id="{2CBAAEA9-A6AD-401F-9DAE-B0296BB48D3C}"/>
              </a:ext>
            </a:extLst>
          </p:cNvPr>
          <p:cNvSpPr>
            <a:spLocks noGrp="1"/>
          </p:cNvSpPr>
          <p:nvPr/>
        </p:nvSpPr>
        <p:spPr>
          <a:xfrm>
            <a:off x="9525000" y="4972050"/>
            <a:ext cx="21526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block-cell-text-3-3">
            <a:extLst>
              <a:ext uri="{FF2B5EF4-FFF2-40B4-BE49-F238E27FC236}">
                <a16:creationId xmlns:a16="http://schemas.microsoft.com/office/drawing/2014/main" id="{2F850C7D-0039-46D7-8421-C07FCEDB74ED}"/>
              </a:ext>
            </a:extLst>
          </p:cNvPr>
          <p:cNvSpPr>
            <a:spLocks noGrp="1"/>
          </p:cNvSpPr>
          <p:nvPr/>
        </p:nvSpPr>
        <p:spPr>
          <a:xfrm>
            <a:off x="9620250" y="50673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人员与设备风险</a:t>
            </a:r>
          </a:p>
        </p:txBody>
      </p:sp>
      <p:sp>
        <p:nvSpPr>
          <p:cNvPr id="46" name="blocker-conclusion">
            <a:extLst>
              <a:ext uri="{FF2B5EF4-FFF2-40B4-BE49-F238E27FC236}">
                <a16:creationId xmlns:a16="http://schemas.microsoft.com/office/drawing/2014/main" id="{FDD80544-0A3E-43D3-8EAC-A63D188D587D}"/>
              </a:ext>
            </a:extLst>
          </p:cNvPr>
          <p:cNvSpPr>
            <a:spLocks noGrp="1"/>
          </p:cNvSpPr>
          <p:nvPr/>
        </p:nvSpPr>
        <p:spPr>
          <a:xfrm>
            <a:off x="514350" y="594360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工程判断：保持只读与执行闭锁，是当前资料条件下正确的完成状态。</a:t>
            </a:r>
          </a:p>
        </p:txBody>
      </p:sp>
    </p:spTree>
    <p:extLst>
      <p:ext uri="{BB962C8B-B14F-4D97-AF65-F5344CB8AC3E}">
        <p14:creationId xmlns:p14="http://schemas.microsoft.com/office/powerpoint/2010/main" val="136506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kicker-10">
            <a:extLst>
              <a:ext uri="{FF2B5EF4-FFF2-40B4-BE49-F238E27FC236}">
                <a16:creationId xmlns:a16="http://schemas.microsoft.com/office/drawing/2014/main" id="{71433110-30FF-46DB-843A-34B220CAC01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D811BC74-AB1D-4DC4-AE36-B6F3207B6447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096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57"/>
          </a:bodyPr>
          <a:lstStyle/>
          <a:p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阶段结论：仿真闭环可验收，真机必须补齐接口后再开放</a:t>
            </a:r>
          </a:p>
        </p:txBody>
      </p:sp>
      <p:cxnSp>
        <p:nvCxnSpPr>
          <p:cNvPr id="28" name="rule-10"/>
          <p:cNvCxnSpPr/>
          <p:nvPr/>
        </p:nvCxnSpPr>
        <p:spPr>
          <a:xfrm>
            <a:off x="514350" y="1381125"/>
            <a:ext cx="11163300" cy="0"/>
          </a:xfrm>
          <a:prstGeom prst="straightConnector1">
            <a:avLst/>
          </a:prstGeom>
          <a:ln w="9525">
            <a:solidFill>
              <a:srgbClr val="111111"/>
            </a:solidFill>
            <a:prstDash val="solid"/>
          </a:ln>
        </p:spPr>
      </p:cxnSp>
      <p:sp>
        <p:nvSpPr>
          <p:cNvPr id="4" name="page-10">
            <a:extLst>
              <a:ext uri="{FF2B5EF4-FFF2-40B4-BE49-F238E27FC236}">
                <a16:creationId xmlns:a16="http://schemas.microsoft.com/office/drawing/2014/main" id="{E8ABC75E-757C-4452-9FC9-28C5FA6B6CD6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close-left-title">
            <a:extLst>
              <a:ext uri="{FF2B5EF4-FFF2-40B4-BE49-F238E27FC236}">
                <a16:creationId xmlns:a16="http://schemas.microsoft.com/office/drawing/2014/main" id="{A786973A-69E9-4B59-935F-8D6B8FF0C7DC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6" name="close-done-dot-0">
            <a:extLst>
              <a:ext uri="{FF2B5EF4-FFF2-40B4-BE49-F238E27FC236}">
                <a16:creationId xmlns:a16="http://schemas.microsoft.com/office/drawing/2014/main" id="{DA7BEC2A-7C3D-4287-8B2C-2D495AEBE397}"/>
              </a:ext>
            </a:extLst>
          </p:cNvPr>
          <p:cNvSpPr>
            <a:spLocks noGrp="1"/>
          </p:cNvSpPr>
          <p:nvPr/>
        </p:nvSpPr>
        <p:spPr>
          <a:xfrm>
            <a:off x="514350" y="25241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7" name="close-done-text-0">
            <a:extLst>
              <a:ext uri="{FF2B5EF4-FFF2-40B4-BE49-F238E27FC236}">
                <a16:creationId xmlns:a16="http://schemas.microsoft.com/office/drawing/2014/main" id="{17AC5460-A4F7-40C9-ABD5-AA6D54ED67E8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4572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统一上位机 GUI、消息、安全和状态机</a:t>
            </a:r>
          </a:p>
        </p:txBody>
      </p:sp>
      <p:sp>
        <p:nvSpPr>
          <p:cNvPr id="8" name="close-done-dot-1">
            <a:extLst>
              <a:ext uri="{FF2B5EF4-FFF2-40B4-BE49-F238E27FC236}">
                <a16:creationId xmlns:a16="http://schemas.microsoft.com/office/drawing/2014/main" id="{2FB37690-817E-4807-A05D-CAC84F0EB82A}"/>
              </a:ext>
            </a:extLst>
          </p:cNvPr>
          <p:cNvSpPr>
            <a:spLocks noGrp="1"/>
          </p:cNvSpPr>
          <p:nvPr/>
        </p:nvSpPr>
        <p:spPr>
          <a:xfrm>
            <a:off x="514350" y="30575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close-done-text-1">
            <a:extLst>
              <a:ext uri="{FF2B5EF4-FFF2-40B4-BE49-F238E27FC236}">
                <a16:creationId xmlns:a16="http://schemas.microsoft.com/office/drawing/2014/main" id="{B6516FCF-3435-4228-BEA7-D33E9CD6AE4C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572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MuJoCo 实时视觉与任务执行闭环</a:t>
            </a:r>
          </a:p>
        </p:txBody>
      </p:sp>
      <p:sp>
        <p:nvSpPr>
          <p:cNvPr id="10" name="close-done-dot-2">
            <a:extLst>
              <a:ext uri="{FF2B5EF4-FFF2-40B4-BE49-F238E27FC236}">
                <a16:creationId xmlns:a16="http://schemas.microsoft.com/office/drawing/2014/main" id="{9AF2C733-4F48-4752-B633-90F6EEC25CEC}"/>
              </a:ext>
            </a:extLst>
          </p:cNvPr>
          <p:cNvSpPr>
            <a:spLocks noGrp="1"/>
          </p:cNvSpPr>
          <p:nvPr/>
        </p:nvSpPr>
        <p:spPr>
          <a:xfrm>
            <a:off x="514350" y="35909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close-done-text-2">
            <a:extLst>
              <a:ext uri="{FF2B5EF4-FFF2-40B4-BE49-F238E27FC236}">
                <a16:creationId xmlns:a16="http://schemas.microsoft.com/office/drawing/2014/main" id="{321C0DB8-EA0B-4254-A2C0-D241FFFFB9CB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4572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真机视觉监视、USART10 工具与资料审查</a:t>
            </a:r>
          </a:p>
        </p:txBody>
      </p:sp>
      <p:sp>
        <p:nvSpPr>
          <p:cNvPr id="12" name="close-done-dot-3">
            <a:extLst>
              <a:ext uri="{FF2B5EF4-FFF2-40B4-BE49-F238E27FC236}">
                <a16:creationId xmlns:a16="http://schemas.microsoft.com/office/drawing/2014/main" id="{0CAE684D-5C8C-4970-86E9-4FE057FAF339}"/>
              </a:ext>
            </a:extLst>
          </p:cNvPr>
          <p:cNvSpPr>
            <a:spLocks noGrp="1"/>
          </p:cNvSpPr>
          <p:nvPr/>
        </p:nvSpPr>
        <p:spPr>
          <a:xfrm>
            <a:off x="514350" y="4124325"/>
            <a:ext cx="22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close-done-text-3">
            <a:extLst>
              <a:ext uri="{FF2B5EF4-FFF2-40B4-BE49-F238E27FC236}">
                <a16:creationId xmlns:a16="http://schemas.microsoft.com/office/drawing/2014/main" id="{3E47B431-F6A0-471E-B699-4230025067D9}"/>
              </a:ext>
            </a:extLst>
          </p:cNvPr>
          <p:cNvSpPr>
            <a:spLocks noGrp="1"/>
          </p:cNvSpPr>
          <p:nvPr/>
        </p:nvSpPr>
        <p:spPr>
          <a:xfrm>
            <a:off x="800100" y="4133850"/>
            <a:ext cx="4572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 项测试、运行日志和演示手册</a:t>
            </a:r>
          </a:p>
        </p:txBody>
      </p:sp>
      <p:cxnSp>
        <p:nvCxnSpPr>
          <p:cNvPr id="39" name="close-divider"/>
          <p:cNvCxnSpPr/>
          <p:nvPr/>
        </p:nvCxnSpPr>
        <p:spPr>
          <a:xfrm>
            <a:off x="5962650" y="1828800"/>
            <a:ext cx="0" cy="340995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5" name="close-right-title">
            <a:extLst>
              <a:ext uri="{FF2B5EF4-FFF2-40B4-BE49-F238E27FC236}">
                <a16:creationId xmlns:a16="http://schemas.microsoft.com/office/drawing/2014/main" id="{4207506D-7777-40FB-AFCE-3F363E59EE27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真机开放前的四道门槛</a:t>
            </a:r>
          </a:p>
        </p:txBody>
      </p:sp>
      <p:sp>
        <p:nvSpPr>
          <p:cNvPr id="16" name="gate-num-0">
            <a:extLst>
              <a:ext uri="{FF2B5EF4-FFF2-40B4-BE49-F238E27FC236}">
                <a16:creationId xmlns:a16="http://schemas.microsoft.com/office/drawing/2014/main" id="{E6E3AB08-1D28-42B1-82C5-2DB209D4BE15}"/>
              </a:ext>
            </a:extLst>
          </p:cNvPr>
          <p:cNvSpPr>
            <a:spLocks noGrp="1"/>
          </p:cNvSpPr>
          <p:nvPr/>
        </p:nvSpPr>
        <p:spPr>
          <a:xfrm>
            <a:off x="6496050" y="251460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gate-text-0">
            <a:extLst>
              <a:ext uri="{FF2B5EF4-FFF2-40B4-BE49-F238E27FC236}">
                <a16:creationId xmlns:a16="http://schemas.microsoft.com/office/drawing/2014/main" id="{716FAD35-A88A-437C-91B4-6CEA9A977A7D}"/>
              </a:ext>
            </a:extLst>
          </p:cNvPr>
          <p:cNvSpPr>
            <a:spLocks noGrp="1"/>
          </p:cNvSpPr>
          <p:nvPr/>
        </p:nvSpPr>
        <p:spPr>
          <a:xfrm>
            <a:off x="7143750" y="2543175"/>
            <a:ext cx="4238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 D435i 内参与手眼标定</a:t>
            </a:r>
          </a:p>
        </p:txBody>
      </p:sp>
      <p:sp>
        <p:nvSpPr>
          <p:cNvPr id="18" name="gate-num-1">
            <a:extLst>
              <a:ext uri="{FF2B5EF4-FFF2-40B4-BE49-F238E27FC236}">
                <a16:creationId xmlns:a16="http://schemas.microsoft.com/office/drawing/2014/main" id="{AD884C16-C5F3-4933-8F4A-48B33C1210F7}"/>
              </a:ext>
            </a:extLst>
          </p:cNvPr>
          <p:cNvSpPr>
            <a:spLocks noGrp="1"/>
          </p:cNvSpPr>
          <p:nvPr/>
        </p:nvSpPr>
        <p:spPr>
          <a:xfrm>
            <a:off x="6496050" y="32194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gate-text-1">
            <a:extLst>
              <a:ext uri="{FF2B5EF4-FFF2-40B4-BE49-F238E27FC236}">
                <a16:creationId xmlns:a16="http://schemas.microsoft.com/office/drawing/2014/main" id="{770ACB54-C425-44A5-B1D7-6828A84FA66E}"/>
              </a:ext>
            </a:extLst>
          </p:cNvPr>
          <p:cNvSpPr>
            <a:spLocks noGrp="1"/>
          </p:cNvSpPr>
          <p:nvPr/>
        </p:nvSpPr>
        <p:spPr>
          <a:xfrm>
            <a:off x="7143750" y="3248025"/>
            <a:ext cx="4238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升级固件为 7 关节命令/遥测闭环</a:t>
            </a:r>
          </a:p>
        </p:txBody>
      </p:sp>
      <p:sp>
        <p:nvSpPr>
          <p:cNvPr id="20" name="gate-num-2">
            <a:extLst>
              <a:ext uri="{FF2B5EF4-FFF2-40B4-BE49-F238E27FC236}">
                <a16:creationId xmlns:a16="http://schemas.microsoft.com/office/drawing/2014/main" id="{6AD7C302-64F0-4026-BCBE-51467CD2AE18}"/>
              </a:ext>
            </a:extLst>
          </p:cNvPr>
          <p:cNvSpPr>
            <a:spLocks noGrp="1"/>
          </p:cNvSpPr>
          <p:nvPr/>
        </p:nvSpPr>
        <p:spPr>
          <a:xfrm>
            <a:off x="6496050" y="392430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gate-text-2">
            <a:extLst>
              <a:ext uri="{FF2B5EF4-FFF2-40B4-BE49-F238E27FC236}">
                <a16:creationId xmlns:a16="http://schemas.microsoft.com/office/drawing/2014/main" id="{232F16D5-C4DD-4B24-B1D4-449FB030CD3F}"/>
              </a:ext>
            </a:extLst>
          </p:cNvPr>
          <p:cNvSpPr>
            <a:spLocks noGrp="1"/>
          </p:cNvSpPr>
          <p:nvPr/>
        </p:nvSpPr>
        <p:spPr>
          <a:xfrm>
            <a:off x="7143750" y="3952875"/>
            <a:ext cx="4238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低速确认零位、方向、偏置与限位</a:t>
            </a:r>
          </a:p>
        </p:txBody>
      </p:sp>
      <p:sp>
        <p:nvSpPr>
          <p:cNvPr id="22" name="gate-num-3">
            <a:extLst>
              <a:ext uri="{FF2B5EF4-FFF2-40B4-BE49-F238E27FC236}">
                <a16:creationId xmlns:a16="http://schemas.microsoft.com/office/drawing/2014/main" id="{8D886D0C-02AE-4CE7-ACE2-F2CE3F11D531}"/>
              </a:ext>
            </a:extLst>
          </p:cNvPr>
          <p:cNvSpPr>
            <a:spLocks noGrp="1"/>
          </p:cNvSpPr>
          <p:nvPr/>
        </p:nvSpPr>
        <p:spPr>
          <a:xfrm>
            <a:off x="6496050" y="46291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gate-text-3">
            <a:extLst>
              <a:ext uri="{FF2B5EF4-FFF2-40B4-BE49-F238E27FC236}">
                <a16:creationId xmlns:a16="http://schemas.microsoft.com/office/drawing/2014/main" id="{265681F4-6769-4523-B7C4-0E0BE588DDF3}"/>
              </a:ext>
            </a:extLst>
          </p:cNvPr>
          <p:cNvSpPr>
            <a:spLocks noGrp="1"/>
          </p:cNvSpPr>
          <p:nvPr/>
        </p:nvSpPr>
        <p:spPr>
          <a:xfrm>
            <a:off x="7143750" y="4657725"/>
            <a:ext cx="4238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验证物理急停、看门狗、ACK 与故障恢复</a:t>
            </a:r>
          </a:p>
        </p:txBody>
      </p:sp>
      <p:sp>
        <p:nvSpPr>
          <p:cNvPr id="24" name="close-final-panel">
            <a:extLst>
              <a:ext uri="{FF2B5EF4-FFF2-40B4-BE49-F238E27FC236}">
                <a16:creationId xmlns:a16="http://schemas.microsoft.com/office/drawing/2014/main" id="{C2EB2876-969D-46B6-AA91-B40E7ACCD6B3}"/>
              </a:ext>
            </a:extLst>
          </p:cNvPr>
          <p:cNvSpPr>
            <a:spLocks noGrp="1"/>
          </p:cNvSpPr>
          <p:nvPr/>
        </p:nvSpPr>
        <p:spPr>
          <a:xfrm>
            <a:off x="514350" y="5581650"/>
            <a:ext cx="11010900" cy="685800"/>
          </a:xfrm>
          <a:prstGeom prst="roundRect">
            <a:avLst>
              <a:gd name="adj" fmla="val 11111"/>
            </a:avLst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25" name="close-final">
            <a:extLst>
              <a:ext uri="{FF2B5EF4-FFF2-40B4-BE49-F238E27FC236}">
                <a16:creationId xmlns:a16="http://schemas.microsoft.com/office/drawing/2014/main" id="{8B3993A1-12E5-4541-AA7C-99907029F370}"/>
              </a:ext>
            </a:extLst>
          </p:cNvPr>
          <p:cNvSpPr>
            <a:spLocks noGrp="1"/>
          </p:cNvSpPr>
          <p:nvPr/>
        </p:nvSpPr>
        <p:spPr>
          <a:xfrm>
            <a:off x="762000" y="578167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下一阶段路线：标定 → 固件闭环 → 单关节低速 → 七关节联调 → 视觉抓取</a:t>
            </a:r>
          </a:p>
        </p:txBody>
      </p:sp>
    </p:spTree>
    <p:extLst>
      <p:ext uri="{BB962C8B-B14F-4D97-AF65-F5344CB8AC3E}">
        <p14:creationId xmlns:p14="http://schemas.microsoft.com/office/powerpoint/2010/main" val="18079367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1960</Words>
  <Application>Microsoft Office PowerPoint</Application>
  <DocSecurity>0</DocSecurity>
  <PresentationFormat>宽屏</PresentationFormat>
  <Paragraphs>152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雷 凡</cp:lastModifiedBy>
  <cp:revision>1</cp:revision>
  <dcterms:created xsi:type="dcterms:W3CDTF">2026-08-26T13:59:53Z</dcterms:created>
  <dcterms:modified xsi:type="dcterms:W3CDTF">2026-08-27T08:01:41Z</dcterms:modified>
</cp:coreProperties>
</file>