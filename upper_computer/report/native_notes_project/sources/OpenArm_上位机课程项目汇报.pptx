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fa6dec516f4ece" /><Relationship Type="http://schemas.openxmlformats.org/officeDocument/2006/relationships/extended-properties" Target="/docProps/app.xml" Id="R1ceba30e54924958" /><Relationship Type="http://schemas.openxmlformats.org/officeDocument/2006/relationships/officeDocument" Target="/ppt/presentation.xml" Id="R4c94a9613bc1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c2c44b4fee4607"/>
  </p:sldMasterIdLst>
  <p:notesMasterIdLst>
    <p:notesMasterId xmlns:r="http://schemas.openxmlformats.org/officeDocument/2006/relationships" r:id="Rd5b47d7ddc1945ae"/>
  </p:notesMasterIdLst>
  <p:sldIdLst>
    <p:sldId xmlns:r="http://schemas.openxmlformats.org/officeDocument/2006/relationships" id="256" r:id="Re3420fed0f3e4515"/>
    <p:sldId xmlns:r="http://schemas.openxmlformats.org/officeDocument/2006/relationships" id="257" r:id="Rd3d0bf48c3694922"/>
    <p:sldId xmlns:r="http://schemas.openxmlformats.org/officeDocument/2006/relationships" id="258" r:id="R54d12f1a54b44500"/>
    <p:sldId xmlns:r="http://schemas.openxmlformats.org/officeDocument/2006/relationships" id="259" r:id="R374b44e3173845fb"/>
    <p:sldId xmlns:r="http://schemas.openxmlformats.org/officeDocument/2006/relationships" id="260" r:id="R56406a3f2f374ce0"/>
    <p:sldId xmlns:r="http://schemas.openxmlformats.org/officeDocument/2006/relationships" id="261" r:id="R75313cd4acca44da"/>
    <p:sldId xmlns:r="http://schemas.openxmlformats.org/officeDocument/2006/relationships" id="262" r:id="R0d05f624b4654dbd"/>
    <p:sldId xmlns:r="http://schemas.openxmlformats.org/officeDocument/2006/relationships" id="263" r:id="R8c35c343821a4412"/>
    <p:sldId xmlns:r="http://schemas.openxmlformats.org/officeDocument/2006/relationships" id="264" r:id="R0f5f956b7a8140b8"/>
    <p:sldId xmlns:r="http://schemas.openxmlformats.org/officeDocument/2006/relationships" id="265" r:id="R2b931f8a6d2040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9c311ec994a52" /><Relationship Type="http://schemas.openxmlformats.org/officeDocument/2006/relationships/slideMaster" Target="/ppt/slideMasters/slideMaster1.xml" Id="R62c2c44b4fee4607" /><Relationship Type="http://schemas.openxmlformats.org/officeDocument/2006/relationships/notesMaster" Target="/ppt/notesMasters/notesMaster1.xml" Id="Rd5b47d7ddc1945ae" /><Relationship Type="http://schemas.openxmlformats.org/officeDocument/2006/relationships/presProps" Target="/ppt/presProps.xml" Id="R84ef5f22fc9b4e67" /><Relationship Type="http://schemas.openxmlformats.org/officeDocument/2006/relationships/tableStyles" Target="/ppt/tableStyles.xml" Id="Re3c5891be1b741ef" /><Relationship Type="http://schemas.openxmlformats.org/officeDocument/2006/relationships/slide" Target="/ppt/slides/slide1.xml" Id="Re3420fed0f3e4515" /><Relationship Type="http://schemas.openxmlformats.org/officeDocument/2006/relationships/slide" Target="/ppt/slides/slide2.xml" Id="Rd3d0bf48c3694922" /><Relationship Type="http://schemas.openxmlformats.org/officeDocument/2006/relationships/slide" Target="/ppt/slides/slide3.xml" Id="R54d12f1a54b44500" /><Relationship Type="http://schemas.openxmlformats.org/officeDocument/2006/relationships/slide" Target="/ppt/slides/slide4.xml" Id="R374b44e3173845fb" /><Relationship Type="http://schemas.openxmlformats.org/officeDocument/2006/relationships/slide" Target="/ppt/slides/slide5.xml" Id="R56406a3f2f374ce0" /><Relationship Type="http://schemas.openxmlformats.org/officeDocument/2006/relationships/slide" Target="/ppt/slides/slide6.xml" Id="R75313cd4acca44da" /><Relationship Type="http://schemas.openxmlformats.org/officeDocument/2006/relationships/slide" Target="/ppt/slides/slide7.xml" Id="R0d05f624b4654dbd" /><Relationship Type="http://schemas.openxmlformats.org/officeDocument/2006/relationships/slide" Target="/ppt/slides/slide8.xml" Id="R8c35c343821a4412" /><Relationship Type="http://schemas.openxmlformats.org/officeDocument/2006/relationships/slide" Target="/ppt/slides/slide9.xml" Id="R0f5f956b7a8140b8" /><Relationship Type="http://schemas.openxmlformats.org/officeDocument/2006/relationships/slide" Target="/ppt/slides/slide10.xml" Id="R2b931f8a6d20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fb221d994547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d8e2ecb4fd4d15" /><Relationship Type="http://schemas.openxmlformats.org/officeDocument/2006/relationships/notesMaster" Target="/ppt/notesMasters/notesMaster1.xml" Id="R4d583c479e004a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ef9289acf44d1" /><Relationship Type="http://schemas.openxmlformats.org/officeDocument/2006/relationships/notesMaster" Target="/ppt/notesMasters/notesMaster1.xml" Id="R5c3afa1fd6ea4b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60e483b49b4cf3" /><Relationship Type="http://schemas.openxmlformats.org/officeDocument/2006/relationships/notesMaster" Target="/ppt/notesMasters/notesMaster1.xml" Id="Rdb0ab3b6cfd44b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9b431d3351412a" /><Relationship Type="http://schemas.openxmlformats.org/officeDocument/2006/relationships/notesMaster" Target="/ppt/notesMasters/notesMaster1.xml" Id="R8d5ca55c54ce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6bee60c44b4c01" /><Relationship Type="http://schemas.openxmlformats.org/officeDocument/2006/relationships/notesMaster" Target="/ppt/notesMasters/notesMaster1.xml" Id="R109714e4eab2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27c26273404c87" /><Relationship Type="http://schemas.openxmlformats.org/officeDocument/2006/relationships/notesMaster" Target="/ppt/notesMasters/notesMaster1.xml" Id="R14a703bf33f841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71531278ae45f3" /><Relationship Type="http://schemas.openxmlformats.org/officeDocument/2006/relationships/notesMaster" Target="/ppt/notesMasters/notesMaster1.xml" Id="R5026051b054349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752f8debc41b1" /><Relationship Type="http://schemas.openxmlformats.org/officeDocument/2006/relationships/notesMaster" Target="/ppt/notesMasters/notesMaster1.xml" Id="R2c79cde4891441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aa3619dce644ce" /><Relationship Type="http://schemas.openxmlformats.org/officeDocument/2006/relationships/notesMaster" Target="/ppt/notesMasters/notesMaster1.xml" Id="R681c6ee0636e42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a9294dd4454f42" /><Relationship Type="http://schemas.openxmlformats.org/officeDocument/2006/relationships/notesMaster" Target="/ppt/notesMasters/notesMaster1.xml" Id="R5d8efa5092eb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开场先给出阶段结论：本次负责的是上位机集成。仿真侧可以形成视觉—上位机—任务执行闭环；真机侧没有为了赶进度而绕过安全条件。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media/v2.png</a:t>
            </a:r>
          </a:p>
          <a:p xmlns:a="http://schemas.openxmlformats.org/drawingml/2006/main">
            <a:r>
              <a:t>- upper_computer/README.md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这一页说明上位机工作不是单一界面，而是把视觉、电控、仿真和安全状态整合为可替换的模块。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upper_computer/PROJECT_STRUCTURE_ZH.md</a:t>
            </a:r>
          </a:p>
          <a:p xmlns:a="http://schemas.openxmlformats.org/drawingml/2006/main">
            <a:r>
              <a:t>- upper_computer/src/openarm_upper/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工作量用可复算的文件和行数表达。这里强调是当前上位机交付范围，不把 vendor 中电控或视觉同学的原始代码当作个人工作量。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upper_computer/report/build/source-notes.txt</a:t>
            </a:r>
          </a:p>
          <a:p xmlns:a="http://schemas.openxmlformats.org/drawingml/2006/main">
            <a:r>
              <a:t>- upper_computer/tests/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重点讲右侧的执行边界：相同界面并不意味着相同权限。仿真模式能够执行，真机模式在证据不完整时必须被锁住。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upper_computer/src/openarm_upper/transports/</a:t>
            </a:r>
          </a:p>
          <a:p xmlns:a="http://schemas.openxmlformats.org/drawingml/2006/main">
            <a:r>
              <a:t>- upper_computer/src/openarm_upper/safety.py</a:t>
            </a:r>
          </a:p>
          <a:p xmlns:a="http://schemas.openxmlformats.org/drawingml/2006/main">
            <a:r>
              <a:t>- upper_computer/config/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现场先运行 run_mujoco_vision_bridge.bat，再运行 run_mujoco_upper_computer.bat。点击确认后不要只看 Viewer，也要指出上位机相机画面在运动过程中持续更新。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outputs/bimanual_task_planner_demo/vision_debug_v18/vision_right_001_detection.png</a:t>
            </a:r>
          </a:p>
          <a:p xmlns:a="http://schemas.openxmlformats.org/drawingml/2006/main">
            <a:r>
              <a:t>- upper_computer/docs/MUJOCO_UPPER_INTEGRATION_ZH.md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2/2 是原 V18.3 报告结果；51 帧是本次实时推流回归。说明复用了已有可靠动作，同时新增了上位机链路和运动中间帧，而不是重新发明控制器。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outputs/bimanual_task_planner_demo/vision_grasp_report_v18.md</a:t>
            </a:r>
          </a:p>
          <a:p xmlns:a="http://schemas.openxmlformats.org/drawingml/2006/main">
            <a:r>
              <a:t>- upper_computer/docs/MUJOCO_UPPER_INTEGRATION_ZH.md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这里展示的是‘真机侧上位机能力’，不是声称已经完成真机抓取。先展示视觉监视，再展示电控协议和端口诊断，最后指出写控制被安全锁住。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upper_computer/report/assets/vision_team_status.png</a:t>
            </a:r>
          </a:p>
          <a:p xmlns:a="http://schemas.openxmlformats.org/drawingml/2006/main">
            <a:r>
              <a:t>- upper_computer/vendor/electrical_reference/motor_j1_can_tool.png</a:t>
            </a:r>
          </a:p>
          <a:p xmlns:a="http://schemas.openxmlformats.org/drawingml/2006/main">
            <a:r>
              <a:t>- upper_computer/docs/VISION_INTEGRATION_REVIEW_ZH.md</a:t>
            </a:r>
          </a:p>
          <a:p xmlns:a="http://schemas.openxmlformats.org/drawingml/2006/main">
            <a:r>
              <a:t>- upper_computer/docs/ELECTRICAL_INTEGRATION_REVIEW_ZH.md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如果现场没有 D435i 或视觉机，用已有消息和只观察界面展示接口；不要为了演示效果连接未知 COM 口。串口扫描是演示的一部分，它证明系统没有猜端口。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upper_computer/report/演示与汇报说明.md</a:t>
            </a:r>
          </a:p>
          <a:p xmlns:a="http://schemas.openxmlformats.org/drawingml/2006/main">
            <a:r>
              <a:t>- upper_computer/run_course_demo.bat</a:t>
            </a:r>
          </a:p>
          <a:p xmlns:a="http://schemas.openxmlformats.org/drawingml/2006/main">
            <a:r>
              <a:t>- upper_computer/tools/list_serial_ports.py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不要用‘还没来得及’解释真机未完成。应说明：视觉标定、固件七关节闭环、零位映射、硬急停和适配器都不完整；上位机已经识别这些缺口并阻止误执行。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upper_computer/docs/ELECTRICAL_INTEGRATION_REVIEW_ZH.md</a:t>
            </a:r>
          </a:p>
          <a:p xmlns:a="http://schemas.openxmlformats.org/drawingml/2006/main">
            <a:r>
              <a:t>- upper_computer/docs/VISION_INTEGRATION_REVIEW_ZH.md</a:t>
            </a:r>
          </a:p>
          <a:p xmlns:a="http://schemas.openxmlformats.org/drawingml/2006/main">
            <a:r>
              <a:t>- upper_computer/docs/TEAMMATE_INTERFACE_CHECKLIST_ZH.md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收尾回到课程目标：上位机软件工作已经形成可演示、可测试、可继续接真的基础。下一步不是重写界面，而是让视觉与电控按清单补齐可执行证据。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upper_computer/report/演示与汇报说明.md</a:t>
            </a:r>
          </a:p>
          <a:p xmlns:a="http://schemas.openxmlformats.org/drawingml/2006/main">
            <a:r>
              <a:t>- upper_computer/PROJECT_STRUCTURE_ZH.md</a:t>
            </a:r>
          </a:p>
          <a:p xmlns:a="http://schemas.openxmlformats.org/drawingml/2006/main">
            <a:r>
              <a:t>- upper_computer/docs/TEAMMATE_INTERFACE_CHECKLIST_ZH.md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79ea8048b4b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2a55132784298" /><Relationship Type="http://schemas.openxmlformats.org/officeDocument/2006/relationships/slideLayout" Target="/ppt/slideLayouts/slideLayout1.xml" Id="Rec0d80b5b40443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0d80b5b40443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7608a56eb469c" /><Relationship Type="http://schemas.openxmlformats.org/officeDocument/2006/relationships/image" Target="/ppt/media/image.png" Id="R4e64fb3152aa47fa" /><Relationship Type="http://schemas.openxmlformats.org/officeDocument/2006/relationships/notesSlide" Target="/ppt/notesSlides/notesSlide1.xml" Id="Rbd0e857f67a0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aab6f3eff4d6d" /><Relationship Type="http://schemas.openxmlformats.org/officeDocument/2006/relationships/notesSlide" Target="/ppt/notesSlides/notesSlide2.xml" Id="Rb83360dda7ed4a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1b3e07dce4381" /><Relationship Type="http://schemas.openxmlformats.org/officeDocument/2006/relationships/notesSlide" Target="/ppt/notesSlides/notesSlide3.xml" Id="Rb8ebb9f451454f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fce4ad7c54a91" /><Relationship Type="http://schemas.openxmlformats.org/officeDocument/2006/relationships/notesSlide" Target="/ppt/notesSlides/notesSlide4.xml" Id="R194f9373795c49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cbbd8cd8140eb" /><Relationship Type="http://schemas.openxmlformats.org/officeDocument/2006/relationships/image" Target="/ppt/media/image2.png" Id="Rdf0fa512063a4046" /><Relationship Type="http://schemas.openxmlformats.org/officeDocument/2006/relationships/notesSlide" Target="/ppt/notesSlides/notesSlide5.xml" Id="R4df564e6aa3148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ba0ae1d744edf" /><Relationship Type="http://schemas.openxmlformats.org/officeDocument/2006/relationships/notesSlide" Target="/ppt/notesSlides/notesSlide6.xml" Id="R810bd6ab55c149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066bf29614210" /><Relationship Type="http://schemas.openxmlformats.org/officeDocument/2006/relationships/image" Target="/ppt/media/image3.png" Id="R13db0bcac1df42e3" /><Relationship Type="http://schemas.openxmlformats.org/officeDocument/2006/relationships/image" Target="/ppt/media/image4.png" Id="Rcd2a8a9e3cd947c7" /><Relationship Type="http://schemas.openxmlformats.org/officeDocument/2006/relationships/notesSlide" Target="/ppt/notesSlides/notesSlide7.xml" Id="R25d76dd940874f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fab89038f437d" /><Relationship Type="http://schemas.openxmlformats.org/officeDocument/2006/relationships/notesSlide" Target="/ppt/notesSlides/notesSlide8.xml" Id="R3be79b18f1164d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23d3369e846c2" /><Relationship Type="http://schemas.openxmlformats.org/officeDocument/2006/relationships/notesSlide" Target="/ppt/notesSlides/notesSlide9.xml" Id="R3713c386a6434c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6897d193e4e5f" /><Relationship Type="http://schemas.openxmlformats.org/officeDocument/2006/relationships/notesSlide" Target="/ppt/notesSlides/notesSlide10.xml" Id="R878ff93ea52e4d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68D698F-9311-4E54-9F86-89DB057B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COURSE PROJECT / 课程项目阶段汇报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07868D-1B1B-4B78-9960-F7F5CA71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56673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OpenArm</a:t>
            </a:r>
          </a:p>
          <a:p xmlns:a="http://schemas.openxmlformats.org/drawingml/2006/main">
            <a:pPr algn="l"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视觉—上位机联调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33352AC-BA81-4180-BEFA-5AD63B5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仿真软件闭环已完成</a:t>
            </a:r>
          </a:p>
          <a:p xmlns:a="http://schemas.openxmlformats.org/drawingml/2006/main">
            <a:pPr algn="l">
              <a:defRPr sz="225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真机控制保持安全闭锁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15C4824-B59A-4D4E-BD46-83B2294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81525"/>
            <a:ext cx="160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9A7618A-68D2-47BA-B580-09EAFEFE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上位机工作内容 · 仿真演示 · 真机侧演示 · 部署阻塞分析</a:t>
            </a:r>
          </a:p>
        </p:txBody>
      </p:sp>
      <p:sp>
        <p:nvSpPr>
          <p:cNvPr id="6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25B23B3A-490B-46C1-8F4B-5F99831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"/>
            <a:ext cx="5334000" cy="60198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4fb3152aa47fa"/>
          <a:stretch xmlns:a="http://schemas.openxmlformats.org/drawingml/2006/main"/>
        </p:blipFill>
        <p:spPr>
          <a:xfrm xmlns:a="http://schemas.openxmlformats.org/drawingml/2006/main">
            <a:off x="7085932" y="552450"/>
            <a:ext cx="3830387" cy="556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97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2">
            <a:extLst xmlns:a="http://schemas.openxmlformats.org/drawingml/2006/main">
              <a:ext uri="{FF2B5EF4-FFF2-40B4-BE49-F238E27FC236}">
                <a16:creationId xmlns:a16="http://schemas.microsoft.com/office/drawing/2014/main" id="{4ABA4596-2EF5-408B-A46F-3C5C7F3E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5F6A563-2358-449F-B10A-57DDE2F9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我的工作：把视觉、仿真与电控统一到一个上位机入口</a:t>
            </a:r>
          </a:p>
        </p:txBody>
      </p:sp>
      <p:cxnSp>
        <p:nvCxnSpPr>
          <p:cNvPr id="19" name="rule-2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52434F1-E687-4360-9372-670B531E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scope-num-0">
            <a:extLst xmlns:a="http://schemas.openxmlformats.org/drawingml/2006/main">
              <a:ext uri="{FF2B5EF4-FFF2-40B4-BE49-F238E27FC236}">
                <a16:creationId xmlns:a16="http://schemas.microsoft.com/office/drawing/2014/main" id="{C43218D3-B4A2-4C3F-B6B1-9B83D1E5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cope-title-0">
            <a:extLst xmlns:a="http://schemas.openxmlformats.org/drawingml/2006/main">
              <a:ext uri="{FF2B5EF4-FFF2-40B4-BE49-F238E27FC236}">
                <a16:creationId xmlns:a16="http://schemas.microsoft.com/office/drawing/2014/main" id="{82617DA2-4A8B-4690-B928-F7D985F3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界面与任务流程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0A039EB4-9916-45A6-A03A-DA389425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3143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目标画面与检测框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任务确认 / 回零 / 取消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状态机与会话日志</a:t>
            </a:r>
          </a:p>
        </p:txBody>
      </p:sp>
      <p:cxnSp>
        <p:nvCxnSpPr>
          <p:cNvPr id="24" name="scope-vline-1"/>
          <p:cNvCxnSpPr/>
          <p:nvPr/>
        </p:nvCxnSpPr>
        <p:spPr>
          <a:xfrm xmlns:a="http://schemas.openxmlformats.org/drawingml/2006/main">
            <a:off x="4010025" y="1952625"/>
            <a:ext cx="0" cy="3314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scope-num-1">
            <a:extLst xmlns:a="http://schemas.openxmlformats.org/drawingml/2006/main">
              <a:ext uri="{FF2B5EF4-FFF2-40B4-BE49-F238E27FC236}">
                <a16:creationId xmlns:a16="http://schemas.microsoft.com/office/drawing/2014/main" id="{9A39A270-9901-4AD3-BF00-0CD5156D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478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834D0EF5-4C3E-4D00-9AAB-3F72329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193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三类接口适配</a:t>
            </a:r>
          </a:p>
        </p:txBody>
      </p:sp>
      <p:sp>
        <p:nvSpPr>
          <p:cNvPr id="11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24763A5F-14BA-476F-912E-DA608658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62300"/>
            <a:ext cx="3143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离线回放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MuJoCo WebSocket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RealSense / YOLO WebSocket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USART10 协议工具</a:t>
            </a:r>
          </a:p>
        </p:txBody>
      </p:sp>
      <p:cxnSp>
        <p:nvCxnSpPr>
          <p:cNvPr id="28" name="scope-vline-2"/>
          <p:cNvCxnSpPr/>
          <p:nvPr/>
        </p:nvCxnSpPr>
        <p:spPr>
          <a:xfrm xmlns:a="http://schemas.openxmlformats.org/drawingml/2006/main">
            <a:off x="7772400" y="1952625"/>
            <a:ext cx="0" cy="3314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scope-num-2">
            <a:extLst xmlns:a="http://schemas.openxmlformats.org/drawingml/2006/main">
              <a:ext uri="{FF2B5EF4-FFF2-40B4-BE49-F238E27FC236}">
                <a16:creationId xmlns:a16="http://schemas.microsoft.com/office/drawing/2014/main" id="{F97A1162-E9F1-4D5F-9121-59E0E7ED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83D68318-493E-4176-8200-2ADFE328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14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安全与可验证性</a:t>
            </a:r>
          </a:p>
        </p:txBody>
      </p:sp>
      <p:sp>
        <p:nvSpPr>
          <p:cNvPr id="15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53CF6B57-3404-4E15-B511-F0605BC8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3143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坐标系与工作空间校验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超时、重连、队列限流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急停锁存与执行闭锁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自动测试和联调文档</a:t>
            </a:r>
          </a:p>
        </p:txBody>
      </p:sp>
      <p:sp>
        <p:nvSpPr>
          <p:cNvPr id="16" name="scope-conclusion">
            <a:extLst xmlns:a="http://schemas.openxmlformats.org/drawingml/2006/main">
              <a:ext uri="{FF2B5EF4-FFF2-40B4-BE49-F238E27FC236}">
                <a16:creationId xmlns:a16="http://schemas.microsoft.com/office/drawing/2014/main" id="{6B60B71C-7062-493F-8844-082F5701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核心原则：UI 不直接绑定某一个视觉程序或电机协议；通过传输层切换数据源，通过安全层决定是否允许执行。</a:t>
            </a:r>
          </a:p>
        </p:txBody>
      </p:sp>
    </p:spTree>
    <p:extLst>
      <p:ext uri="{BB962C8B-B14F-4D97-AF65-F5344CB8AC3E}">
        <p14:creationId xmlns:p14="http://schemas.microsoft.com/office/powerpoint/2010/main" val="426754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1D92B163-2D30-44B8-9DBD-C941F614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C4ADD4-4CB0-43B0-9691-5051374B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当前上位机交付规模已经覆盖开发、测试与联调资料</a:t>
            </a:r>
          </a:p>
        </p:txBody>
      </p:sp>
      <p:cxnSp>
        <p:nvCxnSpPr>
          <p:cNvPr id="24" name="rule-3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DF3057F9-7CAE-46A1-B50B-E11C3418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metrics-context">
            <a:extLst xmlns:a="http://schemas.openxmlformats.org/drawingml/2006/main">
              <a:ext uri="{FF2B5EF4-FFF2-40B4-BE49-F238E27FC236}">
                <a16:creationId xmlns:a16="http://schemas.microsoft.com/office/drawing/2014/main" id="{2B29FF45-7A11-4D48-A016-B5CEC99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统计不含 vendor 原始资料、运行日志、.venv 与缓存；用于展示当前交付模块规模，不把同学提供的代码计入个人新增代码。</a:t>
            </a:r>
          </a:p>
        </p:txBody>
      </p:sp>
      <p:sp>
        <p:nvSpPr>
          <p:cNvPr id="6" name="metric-src-panel">
            <a:extLst xmlns:a="http://schemas.openxmlformats.org/drawingml/2006/main">
              <a:ext uri="{FF2B5EF4-FFF2-40B4-BE49-F238E27FC236}">
                <a16:creationId xmlns:a16="http://schemas.microsoft.com/office/drawing/2014/main" id="{58CD3A1C-8FF4-4463-8506-83375250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3390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metric-src-accent">
            <a:extLst xmlns:a="http://schemas.openxmlformats.org/drawingml/2006/main">
              <a:ext uri="{FF2B5EF4-FFF2-40B4-BE49-F238E27FC236}">
                <a16:creationId xmlns:a16="http://schemas.microsoft.com/office/drawing/2014/main" id="{38C27D56-259C-46CF-BC91-6B81284B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33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rc-stat">
            <a:extLst xmlns:a="http://schemas.openxmlformats.org/drawingml/2006/main">
              <a:ext uri="{FF2B5EF4-FFF2-40B4-BE49-F238E27FC236}">
                <a16:creationId xmlns:a16="http://schemas.microsoft.com/office/drawing/2014/main" id="{719DD35D-9E36-4313-B4CC-F524E55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18 / 1,754</a:t>
            </a:r>
          </a:p>
        </p:txBody>
      </p:sp>
      <p:sp>
        <p:nvSpPr>
          <p:cNvPr id="9" name="metric-src-label">
            <a:extLst xmlns:a="http://schemas.openxmlformats.org/drawingml/2006/main">
              <a:ext uri="{FF2B5EF4-FFF2-40B4-BE49-F238E27FC236}">
                <a16:creationId xmlns:a16="http://schemas.microsoft.com/office/drawing/2014/main" id="{4F99A1BF-E1C9-4597-9D1E-7B372610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应用源码文件 / 行</a:t>
            </a:r>
          </a:p>
        </p:txBody>
      </p:sp>
      <p:sp>
        <p:nvSpPr>
          <p:cNvPr id="10" name="metric-src-detail">
            <a:extLst xmlns:a="http://schemas.openxmlformats.org/drawingml/2006/main">
              <a:ext uri="{FF2B5EF4-FFF2-40B4-BE49-F238E27FC236}">
                <a16:creationId xmlns:a16="http://schemas.microsoft.com/office/drawing/2014/main" id="{F1688891-7938-40ED-85E1-17AB79FC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GUI、消息模型、安全、状态机、日志、传输与协议</a:t>
            </a:r>
          </a:p>
        </p:txBody>
      </p:sp>
      <p:sp>
        <p:nvSpPr>
          <p:cNvPr id="11" name="metric-test-panel">
            <a:extLst xmlns:a="http://schemas.openxmlformats.org/drawingml/2006/main">
              <a:ext uri="{FF2B5EF4-FFF2-40B4-BE49-F238E27FC236}">
                <a16:creationId xmlns:a16="http://schemas.microsoft.com/office/drawing/2014/main" id="{F8EB6112-7DF1-4060-AABD-5C5365B3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3390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metric-test-accent">
            <a:extLst xmlns:a="http://schemas.openxmlformats.org/drawingml/2006/main">
              <a:ext uri="{FF2B5EF4-FFF2-40B4-BE49-F238E27FC236}">
                <a16:creationId xmlns:a16="http://schemas.microsoft.com/office/drawing/2014/main" id="{C3D2CEB0-59C1-4155-A8D9-F534AF8F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533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test-stat">
            <a:extLst xmlns:a="http://schemas.openxmlformats.org/drawingml/2006/main">
              <a:ext uri="{FF2B5EF4-FFF2-40B4-BE49-F238E27FC236}">
                <a16:creationId xmlns:a16="http://schemas.microsoft.com/office/drawing/2014/main" id="{608B1ADD-C54E-4833-8C6B-8CED9321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987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98754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4" name="metric-test-label">
            <a:extLst xmlns:a="http://schemas.openxmlformats.org/drawingml/2006/main">
              <a:ext uri="{FF2B5EF4-FFF2-40B4-BE49-F238E27FC236}">
                <a16:creationId xmlns:a16="http://schemas.microsoft.com/office/drawing/2014/main" id="{56987564-5E50-46A8-A708-DBBCC316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672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自动测试</a:t>
            </a:r>
          </a:p>
        </p:txBody>
      </p:sp>
      <p:sp>
        <p:nvSpPr>
          <p:cNvPr id="15" name="metric-test-detail">
            <a:extLst xmlns:a="http://schemas.openxmlformats.org/drawingml/2006/main">
              <a:ext uri="{FF2B5EF4-FFF2-40B4-BE49-F238E27FC236}">
                <a16:creationId xmlns:a16="http://schemas.microsoft.com/office/drawing/2014/main" id="{D85C27C9-A766-4849-A4D6-E0CAA2D3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006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9 个测试文件，覆盖消息、WebSocket、安全和 USART10</a:t>
            </a:r>
          </a:p>
        </p:txBody>
      </p:sp>
      <p:sp>
        <p:nvSpPr>
          <p:cNvPr id="16" name="metric-run-panel">
            <a:extLst xmlns:a="http://schemas.openxmlformats.org/drawingml/2006/main">
              <a:ext uri="{FF2B5EF4-FFF2-40B4-BE49-F238E27FC236}">
                <a16:creationId xmlns:a16="http://schemas.microsoft.com/office/drawing/2014/main" id="{A1F786A8-D163-4FB1-B2E9-61A834A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33909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metric-run-accent">
            <a:extLst xmlns:a="http://schemas.openxmlformats.org/drawingml/2006/main">
              <a:ext uri="{FF2B5EF4-FFF2-40B4-BE49-F238E27FC236}">
                <a16:creationId xmlns:a16="http://schemas.microsoft.com/office/drawing/2014/main" id="{94018A7E-0CCB-4004-B1C5-D273618E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38500"/>
            <a:ext cx="533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run-stat">
            <a:extLst xmlns:a="http://schemas.openxmlformats.org/drawingml/2006/main">
              <a:ext uri="{FF2B5EF4-FFF2-40B4-BE49-F238E27FC236}">
                <a16:creationId xmlns:a16="http://schemas.microsoft.com/office/drawing/2014/main" id="{EAC9B294-96CC-4722-94ED-84DB122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3 + 6 + 5</a:t>
            </a:r>
          </a:p>
        </p:txBody>
      </p:sp>
      <p:sp>
        <p:nvSpPr>
          <p:cNvPr id="19" name="metric-run-label">
            <a:extLst xmlns:a="http://schemas.openxmlformats.org/drawingml/2006/main">
              <a:ext uri="{FF2B5EF4-FFF2-40B4-BE49-F238E27FC236}">
                <a16:creationId xmlns:a16="http://schemas.microsoft.com/office/drawing/2014/main" id="{40809F10-498F-4F25-A788-8769B354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672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模式 / 配置 / 启动入口</a:t>
            </a:r>
          </a:p>
        </p:txBody>
      </p:sp>
      <p:sp>
        <p:nvSpPr>
          <p:cNvPr id="20" name="metric-run-detail">
            <a:extLst xmlns:a="http://schemas.openxmlformats.org/drawingml/2006/main">
              <a:ext uri="{FF2B5EF4-FFF2-40B4-BE49-F238E27FC236}">
                <a16:creationId xmlns:a16="http://schemas.microsoft.com/office/drawing/2014/main" id="{2FE920CC-3214-417E-8D12-475D193C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006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回放、MuJoCo、真机视觉；统一课程演示菜单已整理</a:t>
            </a:r>
          </a:p>
        </p:txBody>
      </p:sp>
      <p:sp>
        <p:nvSpPr>
          <p:cNvPr id="21" name="metrics-foot">
            <a:extLst xmlns:a="http://schemas.openxmlformats.org/drawingml/2006/main">
              <a:ext uri="{FF2B5EF4-FFF2-40B4-BE49-F238E27FC236}">
                <a16:creationId xmlns:a16="http://schemas.microsoft.com/office/drawing/2014/main" id="{96E45372-EFFF-4AE8-9602-82C8BBB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另有：3 个只读工具、5 份联调文档、2 个仿真视觉文件（1,009 行）</a:t>
            </a:r>
          </a:p>
        </p:txBody>
      </p:sp>
    </p:spTree>
    <p:extLst>
      <p:ext uri="{BB962C8B-B14F-4D97-AF65-F5344CB8AC3E}">
        <p14:creationId xmlns:p14="http://schemas.microsoft.com/office/powerpoint/2010/main" val="1739400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4">
            <a:extLst xmlns:a="http://schemas.openxmlformats.org/drawingml/2006/main">
              <a:ext uri="{FF2B5EF4-FFF2-40B4-BE49-F238E27FC236}">
                <a16:creationId xmlns:a16="http://schemas.microsoft.com/office/drawing/2014/main" id="{94CC1FDC-1AE4-4B59-BAA3-7C026076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DB2AE39-4B2F-4A9F-ABDE-97B8A504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同一套 UI，通过传输适配器切换三种联调模式</a:t>
            </a:r>
          </a:p>
        </p:txBody>
      </p:sp>
      <p:cxnSp>
        <p:nvCxnSpPr>
          <p:cNvPr id="24" name="rule-4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08072ED9-7290-4B6C-8793-72668686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13B89340-2CF1-4B09-9468-0623347C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DD7D2F80-1B3C-4693-8791-0C757F5F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83440199-884C-44CA-90B3-2B8F6A6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arch-node-0">
            <a:extLst xmlns:a="http://schemas.openxmlformats.org/drawingml/2006/main">
              <a:ext uri="{FF2B5EF4-FFF2-40B4-BE49-F238E27FC236}">
                <a16:creationId xmlns:a16="http://schemas.microsoft.com/office/drawing/2014/main" id="{AA84A698-323E-4085-861A-27F6CE9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22098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arch-node-title-0">
            <a:extLst xmlns:a="http://schemas.openxmlformats.org/drawingml/2006/main">
              <a:ext uri="{FF2B5EF4-FFF2-40B4-BE49-F238E27FC236}">
                <a16:creationId xmlns:a16="http://schemas.microsoft.com/office/drawing/2014/main" id="{ECE817BB-5CDC-4AA2-894C-B42CB6F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10" name="arch-node-body-0">
            <a:extLst xmlns:a="http://schemas.openxmlformats.org/drawingml/2006/main">
              <a:ext uri="{FF2B5EF4-FFF2-40B4-BE49-F238E27FC236}">
                <a16:creationId xmlns:a16="http://schemas.microsoft.com/office/drawing/2014/main" id="{EAC6E78D-A274-41AF-B476-7E2CE72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回放 JSONL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MuJoCo RGB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RealSense / YOLO</a:t>
            </a:r>
          </a:p>
        </p:txBody>
      </p:sp>
      <p:sp>
        <p:nvSpPr>
          <p:cNvPr id="11" name="arch-node-1">
            <a:extLst xmlns:a="http://schemas.openxmlformats.org/drawingml/2006/main">
              <a:ext uri="{FF2B5EF4-FFF2-40B4-BE49-F238E27FC236}">
                <a16:creationId xmlns:a16="http://schemas.microsoft.com/office/drawing/2014/main" id="{09F706BF-B5EF-4E8A-980B-9D651F5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000250" cy="20383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node-title-1">
            <a:extLst xmlns:a="http://schemas.openxmlformats.org/drawingml/2006/main">
              <a:ext uri="{FF2B5EF4-FFF2-40B4-BE49-F238E27FC236}">
                <a16:creationId xmlns:a16="http://schemas.microsoft.com/office/drawing/2014/main" id="{3A150A37-C758-4107-84C1-770BB5DA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992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传输适配</a:t>
            </a:r>
          </a:p>
        </p:txBody>
      </p:sp>
      <p:sp>
        <p:nvSpPr>
          <p:cNvPr id="13" name="arch-node-body-1">
            <a:extLst xmlns:a="http://schemas.openxmlformats.org/drawingml/2006/main">
              <a:ext uri="{FF2B5EF4-FFF2-40B4-BE49-F238E27FC236}">
                <a16:creationId xmlns:a16="http://schemas.microsoft.com/office/drawing/2014/main" id="{7328F880-AB23-48BD-8AB9-45BCF54C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48100"/>
            <a:ext cx="1581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DetectionBatch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TaskStatus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有界队列 / 重连</a:t>
            </a:r>
          </a:p>
        </p:txBody>
      </p:sp>
      <p:sp>
        <p:nvSpPr>
          <p:cNvPr id="14" name="arch-node-2">
            <a:extLst xmlns:a="http://schemas.openxmlformats.org/drawingml/2006/main">
              <a:ext uri="{FF2B5EF4-FFF2-40B4-BE49-F238E27FC236}">
                <a16:creationId xmlns:a16="http://schemas.microsoft.com/office/drawing/2014/main" id="{CD988262-CDEE-458E-8F85-7C25343F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009775" cy="2038350"/>
          </a:xfrm>
          <a:prstGeom xmlns:a="http://schemas.openxmlformats.org/drawingml/2006/main" prst="roundRect">
            <a:avLst>
              <a:gd name="adj" fmla="val 568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rch-node-title-2">
            <a:extLst xmlns:a="http://schemas.openxmlformats.org/drawingml/2006/main">
              <a:ext uri="{FF2B5EF4-FFF2-40B4-BE49-F238E27FC236}">
                <a16:creationId xmlns:a16="http://schemas.microsoft.com/office/drawing/2014/main" id="{B2D9EBC1-A8D1-44F5-A04A-F461117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9925"/>
            <a:ext cx="1590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上位机核心</a:t>
            </a:r>
          </a:p>
        </p:txBody>
      </p:sp>
      <p:sp>
        <p:nvSpPr>
          <p:cNvPr id="16" name="arch-node-body-2">
            <a:extLst xmlns:a="http://schemas.openxmlformats.org/drawingml/2006/main">
              <a:ext uri="{FF2B5EF4-FFF2-40B4-BE49-F238E27FC236}">
                <a16:creationId xmlns:a16="http://schemas.microsoft.com/office/drawing/2014/main" id="{DD9B1EFD-D60C-492E-B26B-7120B3E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1590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6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画面与目标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安全校验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任务状态机 / 日志</a:t>
            </a:r>
          </a:p>
        </p:txBody>
      </p:sp>
      <p:sp>
        <p:nvSpPr>
          <p:cNvPr id="17" name="arch-node-3">
            <a:extLst xmlns:a="http://schemas.openxmlformats.org/drawingml/2006/main">
              <a:ext uri="{FF2B5EF4-FFF2-40B4-BE49-F238E27FC236}">
                <a16:creationId xmlns:a16="http://schemas.microsoft.com/office/drawing/2014/main" id="{3F46206B-A145-4B64-BFBF-FF27CA8A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71800"/>
            <a:ext cx="2828925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arch-node-title-3">
            <a:extLst xmlns:a="http://schemas.openxmlformats.org/drawingml/2006/main">
              <a:ext uri="{FF2B5EF4-FFF2-40B4-BE49-F238E27FC236}">
                <a16:creationId xmlns:a16="http://schemas.microsoft.com/office/drawing/2014/main" id="{B75F95AE-88D0-4BC3-919A-0A8894EF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09925"/>
            <a:ext cx="2409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执行边界</a:t>
            </a:r>
          </a:p>
        </p:txBody>
      </p:sp>
      <p:sp>
        <p:nvSpPr>
          <p:cNvPr id="19" name="arch-node-body-3">
            <a:extLst xmlns:a="http://schemas.openxmlformats.org/drawingml/2006/main">
              <a:ext uri="{FF2B5EF4-FFF2-40B4-BE49-F238E27FC236}">
                <a16:creationId xmlns:a16="http://schemas.microsoft.com/office/drawing/2014/main" id="{1D3B6422-D0D9-47EF-BDD6-A9180A19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48100"/>
            <a:ext cx="2409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MuJoCo：允许仿真执行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真机视觉：只观察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USART10：只读</a:t>
            </a:r>
          </a:p>
        </p:txBody>
      </p:sp>
      <p:sp>
        <p:nvSpPr>
          <p:cNvPr id="20" name="arch-claim">
            <a:extLst xmlns:a="http://schemas.openxmlformats.org/drawingml/2006/main">
              <a:ext uri="{FF2B5EF4-FFF2-40B4-BE49-F238E27FC236}">
                <a16:creationId xmlns:a16="http://schemas.microsoft.com/office/drawing/2014/main" id="{04D65FB0-FE67-44DF-BF4E-CC899B9D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上位机不把“看见目标”直接等同于“允许运动”</a:t>
            </a:r>
          </a:p>
        </p:txBody>
      </p:sp>
      <p:sp>
        <p:nvSpPr>
          <p:cNvPr id="21" name="arch-subclaim">
            <a:extLst xmlns:a="http://schemas.openxmlformats.org/drawingml/2006/main">
              <a:ext uri="{FF2B5EF4-FFF2-40B4-BE49-F238E27FC236}">
                <a16:creationId xmlns:a16="http://schemas.microsoft.com/office/drawing/2014/main" id="{D6F276E3-4462-410C-A4EC-8FE2B185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执行权限由坐标、时效、工作空间、接口完备度和运行模式共同决定。</a:t>
            </a:r>
          </a:p>
        </p:txBody>
      </p:sp>
    </p:spTree>
    <p:extLst>
      <p:ext uri="{BB962C8B-B14F-4D97-AF65-F5344CB8AC3E}">
        <p14:creationId xmlns:p14="http://schemas.microsoft.com/office/powerpoint/2010/main" val="464345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5">
            <a:extLst xmlns:a="http://schemas.openxmlformats.org/drawingml/2006/main">
              <a:ext uri="{FF2B5EF4-FFF2-40B4-BE49-F238E27FC236}">
                <a16:creationId xmlns:a16="http://schemas.microsoft.com/office/drawing/2014/main" id="{B3CAD864-94DD-41A3-A128-CAC53C9A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LIVE DEMO / MUJOCO FIRST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5B2217C-FD89-448D-87CF-0BCCDC0F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演示一：仿真上位机展示完整的视觉—任务闭环</a:t>
            </a:r>
          </a:p>
        </p:txBody>
      </p:sp>
      <p:cxnSp>
        <p:nvCxnSpPr>
          <p:cNvPr id="18" name="rule-5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BD196CF-0F96-4099-801D-CEDCFFBB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sim-order-title">
            <a:extLst xmlns:a="http://schemas.openxmlformats.org/drawingml/2006/main">
              <a:ext uri="{FF2B5EF4-FFF2-40B4-BE49-F238E27FC236}">
                <a16:creationId xmlns:a16="http://schemas.microsoft.com/office/drawing/2014/main" id="{2D34D182-DBAE-4DED-A6C5-85AE4591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启动顺序</a:t>
            </a:r>
          </a:p>
        </p:txBody>
      </p:sp>
      <p:sp>
        <p:nvSpPr>
          <p:cNvPr id="6" name="sim-order">
            <a:extLst xmlns:a="http://schemas.openxmlformats.org/drawingml/2006/main">
              <a:ext uri="{FF2B5EF4-FFF2-40B4-BE49-F238E27FC236}">
                <a16:creationId xmlns:a16="http://schemas.microsoft.com/office/drawing/2014/main" id="{F0071196-9AA4-46DD-9346-03E8D962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运行 MuJoCo 视觉桥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运行仿真上位机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识别橙色方块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确认执行抓取放置</a:t>
            </a:r>
          </a:p>
        </p:txBody>
      </p:sp>
      <p:sp>
        <p:nvSpPr>
          <p:cNvPr id="7" name="sim-bullets-dot-0">
            <a:extLst xmlns:a="http://schemas.openxmlformats.org/drawingml/2006/main">
              <a:ext uri="{FF2B5EF4-FFF2-40B4-BE49-F238E27FC236}">
                <a16:creationId xmlns:a16="http://schemas.microsoft.com/office/drawing/2014/main" id="{1E0D74E8-85A9-441C-BA5B-DB3C2506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672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sim-bullets-text-0">
            <a:extLst xmlns:a="http://schemas.openxmlformats.org/drawingml/2006/main">
              <a:ext uri="{FF2B5EF4-FFF2-40B4-BE49-F238E27FC236}">
                <a16:creationId xmlns:a16="http://schemas.microsoft.com/office/drawing/2014/main" id="{3905CA2A-592F-4FA2-9890-77A939D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640×480 虚拟相机，5 FPS 持续中间帧</a:t>
            </a:r>
          </a:p>
        </p:txBody>
      </p:sp>
      <p:sp>
        <p:nvSpPr>
          <p:cNvPr id="9" name="sim-bullets-dot-1">
            <a:extLst xmlns:a="http://schemas.openxmlformats.org/drawingml/2006/main">
              <a:ext uri="{FF2B5EF4-FFF2-40B4-BE49-F238E27FC236}">
                <a16:creationId xmlns:a16="http://schemas.microsoft.com/office/drawing/2014/main" id="{94CCCC5C-3038-4E1F-8CF4-1B355CE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sim-bullets-text-1">
            <a:extLst xmlns:a="http://schemas.openxmlformats.org/drawingml/2006/main">
              <a:ext uri="{FF2B5EF4-FFF2-40B4-BE49-F238E27FC236}">
                <a16:creationId xmlns:a16="http://schemas.microsoft.com/office/drawing/2014/main" id="{A2753BD1-0862-4497-8A8B-59791E95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检测框、置信度与 base_link 坐标</a:t>
            </a:r>
          </a:p>
        </p:txBody>
      </p:sp>
      <p:sp>
        <p:nvSpPr>
          <p:cNvPr id="11" name="sim-bullets-dot-2">
            <a:extLst xmlns:a="http://schemas.openxmlformats.org/drawingml/2006/main">
              <a:ext uri="{FF2B5EF4-FFF2-40B4-BE49-F238E27FC236}">
                <a16:creationId xmlns:a16="http://schemas.microsoft.com/office/drawing/2014/main" id="{99065C42-9ED4-4726-96E6-A83F2A83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43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sim-bullets-text-2">
            <a:extLst xmlns:a="http://schemas.openxmlformats.org/drawingml/2006/main">
              <a:ext uri="{FF2B5EF4-FFF2-40B4-BE49-F238E27FC236}">
                <a16:creationId xmlns:a16="http://schemas.microsoft.com/office/drawing/2014/main" id="{2EA7520F-AEC6-4679-AF07-FBA398BC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PLANNING / EXECUTING / SUCCEEDED 状态回传</a:t>
            </a:r>
          </a:p>
        </p:txBody>
      </p:sp>
      <p:sp>
        <p:nvSpPr>
          <p:cNvPr id="13" name="sim-image-frame">
            <a:extLst xmlns:a="http://schemas.openxmlformats.org/drawingml/2006/main">
              <a:ext uri="{FF2B5EF4-FFF2-40B4-BE49-F238E27FC236}">
                <a16:creationId xmlns:a16="http://schemas.microsoft.com/office/drawing/2014/main" id="{65C2C213-B6D0-4146-B47B-92B00C57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14500"/>
            <a:ext cx="59055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fa512063a4046"/>
          <a:stretch xmlns:a="http://schemas.openxmlformats.org/drawingml/2006/main"/>
        </p:blipFill>
        <p:spPr>
          <a:xfrm xmlns:a="http://schemas.openxmlformats.org/drawingml/2006/main">
            <a:off x="6083300" y="1866900"/>
            <a:ext cx="5283200" cy="3962400"/>
          </a:xfrm>
          <a:prstGeom xmlns:a="http://schemas.openxmlformats.org/drawingml/2006/main" prst="rect">
            <a:avLst/>
          </a:prstGeom>
        </p:spPr>
      </p:pic>
      <p:sp>
        <p:nvSpPr>
          <p:cNvPr id="15" name="sim-caption">
            <a:extLst xmlns:a="http://schemas.openxmlformats.org/drawingml/2006/main">
              <a:ext uri="{FF2B5EF4-FFF2-40B4-BE49-F238E27FC236}">
                <a16:creationId xmlns:a16="http://schemas.microsoft.com/office/drawing/2014/main" id="{B7497E38-A4F8-464D-B7B7-B8930D5A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096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画面来自 MuJoCo RGB 渲染，不用物体 body 坐标冒充视觉结果</a:t>
            </a:r>
          </a:p>
        </p:txBody>
      </p:sp>
    </p:spTree>
    <p:extLst>
      <p:ext uri="{BB962C8B-B14F-4D97-AF65-F5344CB8AC3E}">
        <p14:creationId xmlns:p14="http://schemas.microsoft.com/office/powerpoint/2010/main" val="1030077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6">
            <a:extLst xmlns:a="http://schemas.openxmlformats.org/drawingml/2006/main">
              <a:ext uri="{FF2B5EF4-FFF2-40B4-BE49-F238E27FC236}">
                <a16:creationId xmlns:a16="http://schemas.microsoft.com/office/drawing/2014/main" id="{32FA0348-C55C-4E56-956A-CF5D6456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F1FDEFB-8C55-4C43-A200-62E80D5A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仿真闭环不是静态截图，而是可重复验证的执行过程</a:t>
            </a:r>
          </a:p>
        </p:txBody>
      </p:sp>
      <p:cxnSp>
        <p:nvCxnSpPr>
          <p:cNvPr id="25" name="rule-6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D66DDFA3-BC15-43C2-BE33-7208867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cxnSp>
        <p:nvCxnSpPr>
          <p:cNvPr id="27" name="sim-timeline-line"/>
          <p:cNvCxnSpPr/>
          <p:nvPr/>
        </p:nvCxnSpPr>
        <p:spPr>
          <a:xfrm xmlns:a="http://schemas.openxmlformats.org/drawingml/2006/main">
            <a:off x="971550" y="3276600"/>
            <a:ext cx="9696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sim-dot-0">
            <a:extLst xmlns:a="http://schemas.openxmlformats.org/drawingml/2006/main">
              <a:ext uri="{FF2B5EF4-FFF2-40B4-BE49-F238E27FC236}">
                <a16:creationId xmlns:a16="http://schemas.microsoft.com/office/drawing/2014/main" id="{7219CFB1-D0E7-4485-B1A5-88BE1037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im-dot-1">
            <a:extLst xmlns:a="http://schemas.openxmlformats.org/drawingml/2006/main">
              <a:ext uri="{FF2B5EF4-FFF2-40B4-BE49-F238E27FC236}">
                <a16:creationId xmlns:a16="http://schemas.microsoft.com/office/drawing/2014/main" id="{CA499A32-9267-4EF0-BC4F-527ECAFC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im-dot-2">
            <a:extLst xmlns:a="http://schemas.openxmlformats.org/drawingml/2006/main">
              <a:ext uri="{FF2B5EF4-FFF2-40B4-BE49-F238E27FC236}">
                <a16:creationId xmlns:a16="http://schemas.microsoft.com/office/drawing/2014/main" id="{3ACC2475-57BE-4C8D-8DBE-640EB4CD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m-t-label-0">
            <a:extLst xmlns:a="http://schemas.openxmlformats.org/drawingml/2006/main">
              <a:ext uri="{FF2B5EF4-FFF2-40B4-BE49-F238E27FC236}">
                <a16:creationId xmlns:a16="http://schemas.microsoft.com/office/drawing/2014/main" id="{46DFCE26-AE1F-4CE9-A00C-79F5298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视觉确认</a:t>
            </a:r>
          </a:p>
        </p:txBody>
      </p:sp>
      <p:sp>
        <p:nvSpPr>
          <p:cNvPr id="10" name="sim-t-title-0">
            <a:extLst xmlns:a="http://schemas.openxmlformats.org/drawingml/2006/main">
              <a:ext uri="{FF2B5EF4-FFF2-40B4-BE49-F238E27FC236}">
                <a16:creationId xmlns:a16="http://schemas.microsoft.com/office/drawing/2014/main" id="{D2CC6B89-E72D-45B7-9EBD-5561A36D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RGB → 检测</a:t>
            </a:r>
          </a:p>
        </p:txBody>
      </p:sp>
      <p:sp>
        <p:nvSpPr>
          <p:cNvPr id="11" name="sim-t-body-0">
            <a:extLst xmlns:a="http://schemas.openxmlformats.org/drawingml/2006/main">
              <a:ext uri="{FF2B5EF4-FFF2-40B4-BE49-F238E27FC236}">
                <a16:creationId xmlns:a16="http://schemas.microsoft.com/office/drawing/2014/main" id="{4F1555AE-2823-433D-9F90-2B5E1068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橙色分割、检测框、像素反投影与目标时效校验</a:t>
            </a:r>
          </a:p>
        </p:txBody>
      </p:sp>
      <p:sp>
        <p:nvSpPr>
          <p:cNvPr id="12" name="sim-t-label-1">
            <a:extLst xmlns:a="http://schemas.openxmlformats.org/drawingml/2006/main">
              <a:ext uri="{FF2B5EF4-FFF2-40B4-BE49-F238E27FC236}">
                <a16:creationId xmlns:a16="http://schemas.microsoft.com/office/drawing/2014/main" id="{E7EE071C-18FB-4A73-B90E-267263D2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安全与规划</a:t>
            </a:r>
          </a:p>
        </p:txBody>
      </p:sp>
      <p:sp>
        <p:nvSpPr>
          <p:cNvPr id="13" name="sim-t-title-1">
            <a:extLst xmlns:a="http://schemas.openxmlformats.org/drawingml/2006/main">
              <a:ext uri="{FF2B5EF4-FFF2-40B4-BE49-F238E27FC236}">
                <a16:creationId xmlns:a16="http://schemas.microsoft.com/office/drawing/2014/main" id="{713DD581-15B2-42F9-B09E-F8FFB5A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 → 任务</a:t>
            </a:r>
          </a:p>
        </p:txBody>
      </p:sp>
      <p:sp>
        <p:nvSpPr>
          <p:cNvPr id="14" name="sim-t-body-1">
            <a:extLst xmlns:a="http://schemas.openxmlformats.org/drawingml/2006/main">
              <a:ext uri="{FF2B5EF4-FFF2-40B4-BE49-F238E27FC236}">
                <a16:creationId xmlns:a16="http://schemas.microsoft.com/office/drawing/2014/main" id="{B621179A-CE0C-4544-9FC8-BCA0DEF5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工作空间检查、稳定示教点匹配、双臂规划器与碰撞日志</a:t>
            </a:r>
          </a:p>
        </p:txBody>
      </p:sp>
      <p:sp>
        <p:nvSpPr>
          <p:cNvPr id="15" name="sim-t-label-2">
            <a:extLst xmlns:a="http://schemas.openxmlformats.org/drawingml/2006/main">
              <a:ext uri="{FF2B5EF4-FFF2-40B4-BE49-F238E27FC236}">
                <a16:creationId xmlns:a16="http://schemas.microsoft.com/office/drawing/2014/main" id="{F87619A9-D6CB-43AC-9A23-227B466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执行与证据</a:t>
            </a:r>
          </a:p>
        </p:txBody>
      </p:sp>
      <p:sp>
        <p:nvSpPr>
          <p:cNvPr id="16" name="sim-t-title-2">
            <a:extLst xmlns:a="http://schemas.openxmlformats.org/drawingml/2006/main">
              <a:ext uri="{FF2B5EF4-FFF2-40B4-BE49-F238E27FC236}">
                <a16:creationId xmlns:a16="http://schemas.microsoft.com/office/drawing/2014/main" id="{8B587BF5-78EE-4DC6-A618-7AA88527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动作 → 结果</a:t>
            </a:r>
          </a:p>
        </p:txBody>
      </p:sp>
      <p:sp>
        <p:nvSpPr>
          <p:cNvPr id="17" name="sim-t-body-2">
            <a:extLst xmlns:a="http://schemas.openxmlformats.org/drawingml/2006/main">
              <a:ext uri="{FF2B5EF4-FFF2-40B4-BE49-F238E27FC236}">
                <a16:creationId xmlns:a16="http://schemas.microsoft.com/office/drawing/2014/main" id="{603DDC86-C4F9-4784-8F61-43397373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抓取、抬升、放置、状态回传、会话与任务日志</a:t>
            </a:r>
          </a:p>
        </p:txBody>
      </p:sp>
      <p:sp>
        <p:nvSpPr>
          <p:cNvPr id="18" name="sim-proof-1">
            <a:extLst xmlns:a="http://schemas.openxmlformats.org/drawingml/2006/main">
              <a:ext uri="{FF2B5EF4-FFF2-40B4-BE49-F238E27FC236}">
                <a16:creationId xmlns:a16="http://schemas.microsoft.com/office/drawing/2014/main" id="{BB219792-4D3C-4E26-8064-B884470A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87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8754"/>
                </a:solidFill>
                <a:latin typeface="Microsoft YaHei"/>
                <a:ea typeface="Microsoft YaHei"/>
                <a:cs typeface="Microsoft YaHei"/>
              </a:rPr>
              <a:t>2 / 2</a:t>
            </a:r>
          </a:p>
        </p:txBody>
      </p:sp>
      <p:sp>
        <p:nvSpPr>
          <p:cNvPr id="19" name="sim-proof-1-label">
            <a:extLst xmlns:a="http://schemas.openxmlformats.org/drawingml/2006/main">
              <a:ext uri="{FF2B5EF4-FFF2-40B4-BE49-F238E27FC236}">
                <a16:creationId xmlns:a16="http://schemas.microsoft.com/office/drawing/2014/main" id="{D04C7E93-8495-4944-9A6A-F78960EC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90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原 V18.3 左右视觉放置成功</a:t>
            </a:r>
          </a:p>
        </p:txBody>
      </p:sp>
      <p:sp>
        <p:nvSpPr>
          <p:cNvPr id="20" name="sim-proof-2">
            <a:extLst xmlns:a="http://schemas.openxmlformats.org/drawingml/2006/main">
              <a:ext uri="{FF2B5EF4-FFF2-40B4-BE49-F238E27FC236}">
                <a16:creationId xmlns:a16="http://schemas.microsoft.com/office/drawing/2014/main" id="{E50F7FB4-762E-4302-BE49-FC7722E5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478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51 帧 / 6.06 s</a:t>
            </a:r>
          </a:p>
        </p:txBody>
      </p:sp>
      <p:sp>
        <p:nvSpPr>
          <p:cNvPr id="21" name="sim-proof-2-label">
            <a:extLst xmlns:a="http://schemas.openxmlformats.org/drawingml/2006/main">
              <a:ext uri="{FF2B5EF4-FFF2-40B4-BE49-F238E27FC236}">
                <a16:creationId xmlns:a16="http://schemas.microsoft.com/office/drawing/2014/main" id="{3BA56CD6-FE48-4864-94EC-9BB292D5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运动区间 JPEG 全部不同</a:t>
            </a:r>
          </a:p>
        </p:txBody>
      </p:sp>
      <p:sp>
        <p:nvSpPr>
          <p:cNvPr id="22" name="sim-boundary">
            <a:extLst xmlns:a="http://schemas.openxmlformats.org/drawingml/2006/main">
              <a:ext uri="{FF2B5EF4-FFF2-40B4-BE49-F238E27FC236}">
                <a16:creationId xmlns:a16="http://schemas.microsoft.com/office/drawing/2014/main" id="{87600642-7221-4A3D-8937-459EE82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当前桥接仍只开放已验证右臂固定点；任意目标和中途急停属于下一阶段。</a:t>
            </a:r>
          </a:p>
        </p:txBody>
      </p:sp>
    </p:spTree>
    <p:extLst>
      <p:ext uri="{BB962C8B-B14F-4D97-AF65-F5344CB8AC3E}">
        <p14:creationId xmlns:p14="http://schemas.microsoft.com/office/powerpoint/2010/main" val="1544926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7">
            <a:extLst xmlns:a="http://schemas.openxmlformats.org/drawingml/2006/main">
              <a:ext uri="{FF2B5EF4-FFF2-40B4-BE49-F238E27FC236}">
                <a16:creationId xmlns:a16="http://schemas.microsoft.com/office/drawing/2014/main" id="{50AD968C-B43B-4312-8735-DA99A10D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REAL-SIDE UPPER COMPUTER / SECOND DEMO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D92076B-6C31-4370-873D-92D1C1E7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真机侧已完成“可观察、可诊断、不可误执行”</a:t>
            </a:r>
          </a:p>
        </p:txBody>
      </p:sp>
      <p:cxnSp>
        <p:nvCxnSpPr>
          <p:cNvPr id="26" name="rule-7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6FBEFAC-7B2C-49AF-ABD2-7195659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eal-vision-frame">
            <a:extLst xmlns:a="http://schemas.openxmlformats.org/drawingml/2006/main">
              <a:ext uri="{FF2B5EF4-FFF2-40B4-BE49-F238E27FC236}">
                <a16:creationId xmlns:a16="http://schemas.microsoft.com/office/drawing/2014/main" id="{79068DAF-602C-4323-B3FA-A101FDB0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4114800" cy="417195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b0bcac1df42e3"/>
          <a:stretch xmlns:a="http://schemas.openxmlformats.org/drawingml/2006/main"/>
        </p:blipFill>
        <p:spPr>
          <a:xfrm xmlns:a="http://schemas.openxmlformats.org/drawingml/2006/main">
            <a:off x="1262984" y="1876425"/>
            <a:ext cx="2617532" cy="3924300"/>
          </a:xfrm>
          <a:prstGeom xmlns:a="http://schemas.openxmlformats.org/drawingml/2006/main" prst="rect">
            <a:avLst/>
          </a:prstGeom>
        </p:spPr>
      </p:pic>
      <p:sp>
        <p:nvSpPr>
          <p:cNvPr id="7" name="real-vision-title">
            <a:extLst xmlns:a="http://schemas.openxmlformats.org/drawingml/2006/main">
              <a:ext uri="{FF2B5EF4-FFF2-40B4-BE49-F238E27FC236}">
                <a16:creationId xmlns:a16="http://schemas.microsoft.com/office/drawing/2014/main" id="{C685915B-02F0-48B4-B60B-A7317AEB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视觉接入</a:t>
            </a:r>
          </a:p>
        </p:txBody>
      </p:sp>
      <p:sp>
        <p:nvSpPr>
          <p:cNvPr id="8" name="real-v-bullets-dot-0">
            <a:extLst xmlns:a="http://schemas.openxmlformats.org/drawingml/2006/main">
              <a:ext uri="{FF2B5EF4-FFF2-40B4-BE49-F238E27FC236}">
                <a16:creationId xmlns:a16="http://schemas.microsoft.com/office/drawing/2014/main" id="{59C98996-219B-49BA-8169-DE89B702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real-v-bullets-text-0">
            <a:extLst xmlns:a="http://schemas.openxmlformats.org/drawingml/2006/main">
              <a:ext uri="{FF2B5EF4-FFF2-40B4-BE49-F238E27FC236}">
                <a16:creationId xmlns:a16="http://schemas.microsoft.com/office/drawing/2014/main" id="{0C35AC7D-45AF-4799-97DF-957AAD0F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兼容视觉组 robot_state WebSocket</a:t>
            </a:r>
          </a:p>
        </p:txBody>
      </p:sp>
      <p:sp>
        <p:nvSpPr>
          <p:cNvPr id="10" name="real-v-bullets-dot-1">
            <a:extLst xmlns:a="http://schemas.openxmlformats.org/drawingml/2006/main">
              <a:ext uri="{FF2B5EF4-FFF2-40B4-BE49-F238E27FC236}">
                <a16:creationId xmlns:a16="http://schemas.microsoft.com/office/drawing/2014/main" id="{90B937E3-0762-4C4F-9A21-36F067A5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real-v-bullets-text-1">
            <a:extLst xmlns:a="http://schemas.openxmlformats.org/drawingml/2006/main">
              <a:ext uri="{FF2B5EF4-FFF2-40B4-BE49-F238E27FC236}">
                <a16:creationId xmlns:a16="http://schemas.microsoft.com/office/drawing/2014/main" id="{5C0421E4-5337-4F5F-879A-C029DB20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717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 JPEG、类别、像素中心与深度</a:t>
            </a:r>
          </a:p>
        </p:txBody>
      </p:sp>
      <p:sp>
        <p:nvSpPr>
          <p:cNvPr id="12" name="real-v-bullets-dot-2">
            <a:extLst xmlns:a="http://schemas.openxmlformats.org/drawingml/2006/main">
              <a:ext uri="{FF2B5EF4-FFF2-40B4-BE49-F238E27FC236}">
                <a16:creationId xmlns:a16="http://schemas.microsoft.com/office/drawing/2014/main" id="{65296474-CD96-4103-A7CC-CF7C0E30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real-v-bullets-text-2">
            <a:extLst xmlns:a="http://schemas.openxmlformats.org/drawingml/2006/main">
              <a:ext uri="{FF2B5EF4-FFF2-40B4-BE49-F238E27FC236}">
                <a16:creationId xmlns:a16="http://schemas.microsoft.com/office/drawing/2014/main" id="{93419EF4-34DC-440F-9E3D-FE22E90E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心跳、断线重连、超时和队列限流</a:t>
            </a:r>
          </a:p>
        </p:txBody>
      </p:sp>
      <p:sp>
        <p:nvSpPr>
          <p:cNvPr id="14" name="real-elec-title">
            <a:extLst xmlns:a="http://schemas.openxmlformats.org/drawingml/2006/main">
              <a:ext uri="{FF2B5EF4-FFF2-40B4-BE49-F238E27FC236}">
                <a16:creationId xmlns:a16="http://schemas.microsoft.com/office/drawing/2014/main" id="{14B1496D-8C68-4B07-A3EA-D85710E3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电控接入</a:t>
            </a:r>
          </a:p>
        </p:txBody>
      </p:sp>
      <p:sp>
        <p:nvSpPr>
          <p:cNvPr id="15" name="real-e-bullets-dot-0">
            <a:extLst xmlns:a="http://schemas.openxmlformats.org/drawingml/2006/main">
              <a:ext uri="{FF2B5EF4-FFF2-40B4-BE49-F238E27FC236}">
                <a16:creationId xmlns:a16="http://schemas.microsoft.com/office/drawing/2014/main" id="{8AD163BC-BE5A-4A94-9D0C-9B3162D7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053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real-e-bullets-text-0">
            <a:extLst xmlns:a="http://schemas.openxmlformats.org/drawingml/2006/main">
              <a:ext uri="{FF2B5EF4-FFF2-40B4-BE49-F238E27FC236}">
                <a16:creationId xmlns:a16="http://schemas.microsoft.com/office/drawing/2014/main" id="{60C34F82-809D-4B62-91D8-1EE3C4F9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14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USART10 24 字节编解码与流解析</a:t>
            </a:r>
          </a:p>
        </p:txBody>
      </p:sp>
      <p:sp>
        <p:nvSpPr>
          <p:cNvPr id="17" name="real-e-bullets-dot-1">
            <a:extLst xmlns:a="http://schemas.openxmlformats.org/drawingml/2006/main">
              <a:ext uri="{FF2B5EF4-FFF2-40B4-BE49-F238E27FC236}">
                <a16:creationId xmlns:a16="http://schemas.microsoft.com/office/drawing/2014/main" id="{0E01015B-5E64-4789-9849-9A57F444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real-e-bullets-text-1">
            <a:extLst xmlns:a="http://schemas.openxmlformats.org/drawingml/2006/main">
              <a:ext uri="{FF2B5EF4-FFF2-40B4-BE49-F238E27FC236}">
                <a16:creationId xmlns:a16="http://schemas.microsoft.com/office/drawing/2014/main" id="{10C5E4C8-521C-49B0-86DB-B83BD95B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434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J1～J7 CAN ID、路由和限位配置</a:t>
            </a:r>
          </a:p>
        </p:txBody>
      </p:sp>
      <p:sp>
        <p:nvSpPr>
          <p:cNvPr id="19" name="real-e-bullets-dot-2">
            <a:extLst xmlns:a="http://schemas.openxmlformats.org/drawingml/2006/main">
              <a:ext uri="{FF2B5EF4-FFF2-40B4-BE49-F238E27FC236}">
                <a16:creationId xmlns:a16="http://schemas.microsoft.com/office/drawing/2014/main" id="{40DD7C2D-ACFD-42B1-A2F2-D921F564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625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real-e-bullets-text-2">
            <a:extLst xmlns:a="http://schemas.openxmlformats.org/drawingml/2006/main">
              <a:ext uri="{FF2B5EF4-FFF2-40B4-BE49-F238E27FC236}">
                <a16:creationId xmlns:a16="http://schemas.microsoft.com/office/drawing/2014/main" id="{789E8DF7-0BDF-47C8-BA1D-D526D11C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72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串口枚举与 J1 只读监视工具</a:t>
            </a:r>
          </a:p>
        </p:txBody>
      </p:sp>
      <p:sp>
        <p:nvSpPr>
          <p:cNvPr id="21" name="real-motor-frame">
            <a:extLst xmlns:a="http://schemas.openxmlformats.org/drawingml/2006/main">
              <a:ext uri="{FF2B5EF4-FFF2-40B4-BE49-F238E27FC236}">
                <a16:creationId xmlns:a16="http://schemas.microsoft.com/office/drawing/2014/main" id="{A40FE6BF-2A5E-4201-9F1F-A8FE6F68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2743200" cy="41719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a8a9e3cd947c7"/>
          <a:stretch xmlns:a="http://schemas.openxmlformats.org/drawingml/2006/main"/>
        </p:blipFill>
        <p:spPr>
          <a:xfrm xmlns:a="http://schemas.openxmlformats.org/drawingml/2006/main">
            <a:off x="9484032" y="1885950"/>
            <a:ext cx="1644036" cy="3905250"/>
          </a:xfrm>
          <a:prstGeom xmlns:a="http://schemas.openxmlformats.org/drawingml/2006/main" prst="rect">
            <a:avLst/>
          </a:prstGeom>
        </p:spPr>
      </p:pic>
      <p:sp>
        <p:nvSpPr>
          <p:cNvPr id="23" name="real-lock">
            <a:extLst xmlns:a="http://schemas.openxmlformats.org/drawingml/2006/main">
              <a:ext uri="{FF2B5EF4-FFF2-40B4-BE49-F238E27FC236}">
                <a16:creationId xmlns:a16="http://schemas.microsoft.com/office/drawing/2014/main" id="{72F80C1F-A3E0-4917-A586-4455A777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真机运动写入仍被明确禁用</a:t>
            </a:r>
          </a:p>
        </p:txBody>
      </p:sp>
    </p:spTree>
    <p:extLst>
      <p:ext uri="{BB962C8B-B14F-4D97-AF65-F5344CB8AC3E}">
        <p14:creationId xmlns:p14="http://schemas.microsoft.com/office/powerpoint/2010/main" val="2114209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EE1ACAB2-83CC-4E10-BB7A-F2BDF005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2F87BD-13EE-4DCF-AF3C-51EAB9E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演示二：真机上位机按“观察 → 诊断 → 只读”展开</a:t>
            </a:r>
          </a:p>
        </p:txBody>
      </p:sp>
      <p:cxnSp>
        <p:nvCxnSpPr>
          <p:cNvPr id="28" name="rule-8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D44BE5FC-B67E-47E9-A5F9-9F9F1C0B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real-demo-arrow-0">
            <a:extLst xmlns:a="http://schemas.openxmlformats.org/drawingml/2006/main">
              <a:ext uri="{FF2B5EF4-FFF2-40B4-BE49-F238E27FC236}">
                <a16:creationId xmlns:a16="http://schemas.microsoft.com/office/drawing/2014/main" id="{AD695A2D-6506-4978-906D-9929CF98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real-demo-arrow-1">
            <a:extLst xmlns:a="http://schemas.openxmlformats.org/drawingml/2006/main">
              <a:ext uri="{FF2B5EF4-FFF2-40B4-BE49-F238E27FC236}">
                <a16:creationId xmlns:a16="http://schemas.microsoft.com/office/drawing/2014/main" id="{0267F498-B1C8-455E-9B25-C3180985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7185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real-demo-arrow-2">
            <a:extLst xmlns:a="http://schemas.openxmlformats.org/drawingml/2006/main">
              <a:ext uri="{FF2B5EF4-FFF2-40B4-BE49-F238E27FC236}">
                <a16:creationId xmlns:a16="http://schemas.microsoft.com/office/drawing/2014/main" id="{196D649E-7B97-4327-807C-93EDE4C1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real-demo-step-0">
            <a:extLst xmlns:a="http://schemas.openxmlformats.org/drawingml/2006/main">
              <a:ext uri="{FF2B5EF4-FFF2-40B4-BE49-F238E27FC236}">
                <a16:creationId xmlns:a16="http://schemas.microsoft.com/office/drawing/2014/main" id="{C56E0289-C912-48F3-AF84-3C6B2BD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381250" cy="27813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al-demo-num-0">
            <a:extLst xmlns:a="http://schemas.openxmlformats.org/drawingml/2006/main">
              <a:ext uri="{FF2B5EF4-FFF2-40B4-BE49-F238E27FC236}">
                <a16:creationId xmlns:a16="http://schemas.microsoft.com/office/drawing/2014/main" id="{18DD6091-8723-46CD-988B-AD3B96F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al-demo-title-0">
            <a:extLst xmlns:a="http://schemas.openxmlformats.org/drawingml/2006/main">
              <a:ext uri="{FF2B5EF4-FFF2-40B4-BE49-F238E27FC236}">
                <a16:creationId xmlns:a16="http://schemas.microsoft.com/office/drawing/2014/main" id="{7CD5A3D3-B5F5-429C-A05B-3F263433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连接视觉服务</a:t>
            </a:r>
          </a:p>
        </p:txBody>
      </p:sp>
      <p:sp>
        <p:nvSpPr>
          <p:cNvPr id="11" name="real-demo-body-0">
            <a:extLst xmlns:a="http://schemas.openxmlformats.org/drawingml/2006/main">
              <a:ext uri="{FF2B5EF4-FFF2-40B4-BE49-F238E27FC236}">
                <a16:creationId xmlns:a16="http://schemas.microsoft.com/office/drawing/2014/main" id="{0E7034F9-B75F-4F42-B867-C4F3008C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2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运行 run_vision_monitor.bat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接收 D435i / YOLO WebSocket</a:t>
            </a:r>
          </a:p>
        </p:txBody>
      </p:sp>
      <p:sp>
        <p:nvSpPr>
          <p:cNvPr id="12" name="real-demo-step-1">
            <a:extLst xmlns:a="http://schemas.openxmlformats.org/drawingml/2006/main">
              <a:ext uri="{FF2B5EF4-FFF2-40B4-BE49-F238E27FC236}">
                <a16:creationId xmlns:a16="http://schemas.microsoft.com/office/drawing/2014/main" id="{DEEB6C99-F581-49B2-BC4A-1934D41B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381250" cy="27813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real-demo-num-1">
            <a:extLst xmlns:a="http://schemas.openxmlformats.org/drawingml/2006/main">
              <a:ext uri="{FF2B5EF4-FFF2-40B4-BE49-F238E27FC236}">
                <a16:creationId xmlns:a16="http://schemas.microsoft.com/office/drawing/2014/main" id="{95F08EE8-EE7A-4C16-AF97-9300AB73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real-demo-title-1">
            <a:extLst xmlns:a="http://schemas.openxmlformats.org/drawingml/2006/main">
              <a:ext uri="{FF2B5EF4-FFF2-40B4-BE49-F238E27FC236}">
                <a16:creationId xmlns:a16="http://schemas.microsoft.com/office/drawing/2014/main" id="{9DE20051-A8A2-4009-95D5-7EB67CA0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展示实时感知</a:t>
            </a:r>
          </a:p>
        </p:txBody>
      </p:sp>
      <p:sp>
        <p:nvSpPr>
          <p:cNvPr id="15" name="real-demo-body-1">
            <a:extLst xmlns:a="http://schemas.openxmlformats.org/drawingml/2006/main">
              <a:ext uri="{FF2B5EF4-FFF2-40B4-BE49-F238E27FC236}">
                <a16:creationId xmlns:a16="http://schemas.microsoft.com/office/drawing/2014/main" id="{0E93EF92-4758-46B3-B26E-F6E2E62D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JPEG、类别、像素 x/y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以及深度 z 与失联提示</a:t>
            </a:r>
          </a:p>
        </p:txBody>
      </p:sp>
      <p:sp>
        <p:nvSpPr>
          <p:cNvPr id="16" name="real-demo-step-2">
            <a:extLst xmlns:a="http://schemas.openxmlformats.org/drawingml/2006/main">
              <a:ext uri="{FF2B5EF4-FFF2-40B4-BE49-F238E27FC236}">
                <a16:creationId xmlns:a16="http://schemas.microsoft.com/office/drawing/2014/main" id="{F905D1AE-73B8-4854-9E55-E060CA1C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2381250" cy="27813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eal-demo-num-2">
            <a:extLst xmlns:a="http://schemas.openxmlformats.org/drawingml/2006/main">
              <a:ext uri="{FF2B5EF4-FFF2-40B4-BE49-F238E27FC236}">
                <a16:creationId xmlns:a16="http://schemas.microsoft.com/office/drawing/2014/main" id="{9F2BD90C-5C86-431D-844D-6D2C786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real-demo-title-2">
            <a:extLst xmlns:a="http://schemas.openxmlformats.org/drawingml/2006/main">
              <a:ext uri="{FF2B5EF4-FFF2-40B4-BE49-F238E27FC236}">
                <a16:creationId xmlns:a16="http://schemas.microsoft.com/office/drawing/2014/main" id="{BDAE58AD-9423-4F25-9EED-803721F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扫描串口</a:t>
            </a:r>
          </a:p>
        </p:txBody>
      </p:sp>
      <p:sp>
        <p:nvSpPr>
          <p:cNvPr id="19" name="real-demo-body-2">
            <a:extLst xmlns:a="http://schemas.openxmlformats.org/drawingml/2006/main">
              <a:ext uri="{FF2B5EF4-FFF2-40B4-BE49-F238E27FC236}">
                <a16:creationId xmlns:a16="http://schemas.microsoft.com/office/drawing/2014/main" id="{6431CFBC-3195-4D86-A20A-09956F24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运行 scan_serial_ports.bat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证明当前无 USB-UART 候选</a:t>
            </a:r>
          </a:p>
        </p:txBody>
      </p:sp>
      <p:sp>
        <p:nvSpPr>
          <p:cNvPr id="20" name="real-demo-step-3">
            <a:extLst xmlns:a="http://schemas.openxmlformats.org/drawingml/2006/main">
              <a:ext uri="{FF2B5EF4-FFF2-40B4-BE49-F238E27FC236}">
                <a16:creationId xmlns:a16="http://schemas.microsoft.com/office/drawing/2014/main" id="{EB803785-C637-49A9-A8CC-E0FD381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381250" cy="27813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CE6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real-demo-num-3">
            <a:extLst xmlns:a="http://schemas.openxmlformats.org/drawingml/2006/main">
              <a:ext uri="{FF2B5EF4-FFF2-40B4-BE49-F238E27FC236}">
                <a16:creationId xmlns:a16="http://schemas.microsoft.com/office/drawing/2014/main" id="{3A830142-3EF3-4946-8ECA-EB22DEEA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real-demo-title-3">
            <a:extLst xmlns:a="http://schemas.openxmlformats.org/drawingml/2006/main">
              <a:ext uri="{FF2B5EF4-FFF2-40B4-BE49-F238E27FC236}">
                <a16:creationId xmlns:a16="http://schemas.microsoft.com/office/drawing/2014/main" id="{18C22DE2-7FB2-43E0-9948-82B5902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1962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展示协议工具</a:t>
            </a:r>
          </a:p>
        </p:txBody>
      </p:sp>
      <p:sp>
        <p:nvSpPr>
          <p:cNvPr id="23" name="real-demo-body-3">
            <a:extLst xmlns:a="http://schemas.openxmlformats.org/drawingml/2006/main">
              <a:ext uri="{FF2B5EF4-FFF2-40B4-BE49-F238E27FC236}">
                <a16:creationId xmlns:a16="http://schemas.microsoft.com/office/drawing/2014/main" id="{6592D5B3-74F0-414F-A77A-BB0D1829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957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离线编码 / 解码 / 捕获解析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真机仅允许 J1 只读监视</a:t>
            </a:r>
          </a:p>
        </p:txBody>
      </p:sp>
      <p:sp>
        <p:nvSpPr>
          <p:cNvPr id="24" name="real-demo-lock-panel">
            <a:extLst xmlns:a="http://schemas.openxmlformats.org/drawingml/2006/main">
              <a:ext uri="{FF2B5EF4-FFF2-40B4-BE49-F238E27FC236}">
                <a16:creationId xmlns:a16="http://schemas.microsoft.com/office/drawing/2014/main" id="{C4812F9C-9D20-4D5D-9330-FB40D26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11010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al-demo-lock-text">
            <a:extLst xmlns:a="http://schemas.openxmlformats.org/drawingml/2006/main">
              <a:ext uri="{FF2B5EF4-FFF2-40B4-BE49-F238E27FC236}">
                <a16:creationId xmlns:a16="http://schemas.microsoft.com/office/drawing/2014/main" id="{85A06243-0B3D-45C3-8EBC-C4D84752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42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执行按钮保持锁定：当前演示验证的是上位机接口与安全行为，不是假装已经具备真机闭环。</a:t>
            </a:r>
          </a:p>
        </p:txBody>
      </p:sp>
    </p:spTree>
    <p:extLst>
      <p:ext uri="{BB962C8B-B14F-4D97-AF65-F5344CB8AC3E}">
        <p14:creationId xmlns:p14="http://schemas.microsoft.com/office/powerpoint/2010/main" val="865632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-9">
            <a:extLst xmlns:a="http://schemas.openxmlformats.org/drawingml/2006/main">
              <a:ext uri="{FF2B5EF4-FFF2-40B4-BE49-F238E27FC236}">
                <a16:creationId xmlns:a16="http://schemas.microsoft.com/office/drawing/2014/main" id="{69DE9F3F-92AB-4A35-804A-4C9D7752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979B028-1144-4EC7-AA5B-79B670E6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真机未完成部署：控制闭环与安全依据仍缺失</a:t>
            </a:r>
          </a:p>
        </p:txBody>
      </p:sp>
      <p:cxnSp>
        <p:nvCxnSpPr>
          <p:cNvPr id="49" name="rule-9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ED81725B-C464-460C-867A-2DEABF35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blocker-context">
            <a:extLst xmlns:a="http://schemas.openxmlformats.org/drawingml/2006/main">
              <a:ext uri="{FF2B5EF4-FFF2-40B4-BE49-F238E27FC236}">
                <a16:creationId xmlns:a16="http://schemas.microsoft.com/office/drawing/2014/main" id="{19CE7B75-8796-4C22-A53C-03B40E30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所有阻塞项都来自现有资料和现场检查；在它们闭环前开放写控制会把软件问题变成人身与设备风险。</a:t>
            </a:r>
          </a:p>
        </p:txBody>
      </p:sp>
      <p:sp>
        <p:nvSpPr>
          <p:cNvPr id="6" name="block-head-0">
            <a:extLst xmlns:a="http://schemas.openxmlformats.org/drawingml/2006/main">
              <a:ext uri="{FF2B5EF4-FFF2-40B4-BE49-F238E27FC236}">
                <a16:creationId xmlns:a16="http://schemas.microsoft.com/office/drawing/2014/main" id="{F38DD022-E67A-4DE1-B356-438BF73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819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block-head-text-0">
            <a:extLst xmlns:a="http://schemas.openxmlformats.org/drawingml/2006/main">
              <a:ext uri="{FF2B5EF4-FFF2-40B4-BE49-F238E27FC236}">
                <a16:creationId xmlns:a16="http://schemas.microsoft.com/office/drawing/2014/main" id="{AD90E186-2F21-4DD6-A17C-BCA59CF0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590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阻塞项</a:t>
            </a:r>
          </a:p>
        </p:txBody>
      </p:sp>
      <p:sp>
        <p:nvSpPr>
          <p:cNvPr id="8" name="block-head-1">
            <a:extLst xmlns:a="http://schemas.openxmlformats.org/drawingml/2006/main">
              <a:ext uri="{FF2B5EF4-FFF2-40B4-BE49-F238E27FC236}">
                <a16:creationId xmlns:a16="http://schemas.microsoft.com/office/drawing/2014/main" id="{D8A89E39-6057-4791-8462-2A9375DA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43150"/>
            <a:ext cx="4105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block-head-text-1">
            <a:extLst xmlns:a="http://schemas.openxmlformats.org/drawingml/2006/main">
              <a:ext uri="{FF2B5EF4-FFF2-40B4-BE49-F238E27FC236}">
                <a16:creationId xmlns:a16="http://schemas.microsoft.com/office/drawing/2014/main" id="{4BD77E0D-684F-4481-99C8-63CE2580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76500"/>
            <a:ext cx="3876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当前证据</a:t>
            </a:r>
          </a:p>
        </p:txBody>
      </p:sp>
      <p:sp>
        <p:nvSpPr>
          <p:cNvPr id="10" name="block-head-2">
            <a:extLst xmlns:a="http://schemas.openxmlformats.org/drawingml/2006/main">
              <a:ext uri="{FF2B5EF4-FFF2-40B4-BE49-F238E27FC236}">
                <a16:creationId xmlns:a16="http://schemas.microsoft.com/office/drawing/2014/main" id="{ECC1539E-8E34-4615-955C-BD8D7919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block-head-text-2">
            <a:extLst xmlns:a="http://schemas.openxmlformats.org/drawingml/2006/main">
              <a:ext uri="{FF2B5EF4-FFF2-40B4-BE49-F238E27FC236}">
                <a16:creationId xmlns:a16="http://schemas.microsoft.com/office/drawing/2014/main" id="{CC82151C-2D96-4901-82F3-EBEE3603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缺失闭环</a:t>
            </a:r>
          </a:p>
        </p:txBody>
      </p:sp>
      <p:sp>
        <p:nvSpPr>
          <p:cNvPr id="12" name="block-head-3">
            <a:extLst xmlns:a="http://schemas.openxmlformats.org/drawingml/2006/main">
              <a:ext uri="{FF2B5EF4-FFF2-40B4-BE49-F238E27FC236}">
                <a16:creationId xmlns:a16="http://schemas.microsoft.com/office/drawing/2014/main" id="{CD0471EC-F1DC-423B-ACE9-BF6B8A0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block-head-text-3">
            <a:extLst xmlns:a="http://schemas.openxmlformats.org/drawingml/2006/main">
              <a:ext uri="{FF2B5EF4-FFF2-40B4-BE49-F238E27FC236}">
                <a16:creationId xmlns:a16="http://schemas.microsoft.com/office/drawing/2014/main" id="{A2DDEFE5-9BA1-4FAF-9897-BB418459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4" name="block-cell-0-0">
            <a:extLst xmlns:a="http://schemas.openxmlformats.org/drawingml/2006/main">
              <a:ext uri="{FF2B5EF4-FFF2-40B4-BE49-F238E27FC236}">
                <a16:creationId xmlns:a16="http://schemas.microsoft.com/office/drawing/2014/main" id="{25FF1EB5-83F6-4C4A-ACF6-505D2A0A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819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lock-cell-text-0-0">
            <a:extLst xmlns:a="http://schemas.openxmlformats.org/drawingml/2006/main">
              <a:ext uri="{FF2B5EF4-FFF2-40B4-BE49-F238E27FC236}">
                <a16:creationId xmlns:a16="http://schemas.microsoft.com/office/drawing/2014/main" id="{B0CCE350-9E74-424E-9837-F3C99F5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628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视觉标定</a:t>
            </a:r>
          </a:p>
        </p:txBody>
      </p:sp>
      <p:sp>
        <p:nvSpPr>
          <p:cNvPr id="16" name="block-cell-0-1">
            <a:extLst xmlns:a="http://schemas.openxmlformats.org/drawingml/2006/main">
              <a:ext uri="{FF2B5EF4-FFF2-40B4-BE49-F238E27FC236}">
                <a16:creationId xmlns:a16="http://schemas.microsoft.com/office/drawing/2014/main" id="{43949BF0-738E-4510-BE6D-9F16A6E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4105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block-cell-text-0-1">
            <a:extLst xmlns:a="http://schemas.openxmlformats.org/drawingml/2006/main">
              <a:ext uri="{FF2B5EF4-FFF2-40B4-BE49-F238E27FC236}">
                <a16:creationId xmlns:a16="http://schemas.microsoft.com/office/drawing/2014/main" id="{4FA9AF4D-9D5F-403F-AA22-D125A7F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3914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x/y 是像素，z 是深度</a:t>
            </a:r>
          </a:p>
        </p:txBody>
      </p:sp>
      <p:sp>
        <p:nvSpPr>
          <p:cNvPr id="18" name="block-cell-0-2">
            <a:extLst xmlns:a="http://schemas.openxmlformats.org/drawingml/2006/main">
              <a:ext uri="{FF2B5EF4-FFF2-40B4-BE49-F238E27FC236}">
                <a16:creationId xmlns:a16="http://schemas.microsoft.com/office/drawing/2014/main" id="{D618BF58-6C54-4FA8-9002-3A7AF309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block-cell-text-0-2">
            <a:extLst xmlns:a="http://schemas.openxmlformats.org/drawingml/2006/main">
              <a:ext uri="{FF2B5EF4-FFF2-40B4-BE49-F238E27FC236}">
                <a16:creationId xmlns:a16="http://schemas.microsoft.com/office/drawing/2014/main" id="{BD454CFE-2096-414C-B83B-68674F5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内参、手眼外参、base_link 三维点</a:t>
            </a:r>
          </a:p>
        </p:txBody>
      </p:sp>
      <p:sp>
        <p:nvSpPr>
          <p:cNvPr id="20" name="block-cell-0-3">
            <a:extLst xmlns:a="http://schemas.openxmlformats.org/drawingml/2006/main">
              <a:ext uri="{FF2B5EF4-FFF2-40B4-BE49-F238E27FC236}">
                <a16:creationId xmlns:a16="http://schemas.microsoft.com/office/drawing/2014/main" id="{3914A119-9D9E-47F2-AAEC-F34E24E2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block-cell-text-0-3">
            <a:extLst xmlns:a="http://schemas.openxmlformats.org/drawingml/2006/main">
              <a:ext uri="{FF2B5EF4-FFF2-40B4-BE49-F238E27FC236}">
                <a16:creationId xmlns:a16="http://schemas.microsoft.com/office/drawing/2014/main" id="{35597F2F-6F74-4282-8E5E-59B2E9A6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抓错位置</a:t>
            </a:r>
          </a:p>
        </p:txBody>
      </p:sp>
      <p:sp>
        <p:nvSpPr>
          <p:cNvPr id="22" name="block-cell-1-0">
            <a:extLst xmlns:a="http://schemas.openxmlformats.org/drawingml/2006/main">
              <a:ext uri="{FF2B5EF4-FFF2-40B4-BE49-F238E27FC236}">
                <a16:creationId xmlns:a16="http://schemas.microsoft.com/office/drawing/2014/main" id="{DF404D13-DC28-4E89-AE8A-DAC50C53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19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block-cell-text-1-0">
            <a:extLst xmlns:a="http://schemas.openxmlformats.org/drawingml/2006/main">
              <a:ext uri="{FF2B5EF4-FFF2-40B4-BE49-F238E27FC236}">
                <a16:creationId xmlns:a16="http://schemas.microsoft.com/office/drawing/2014/main" id="{99836B6A-C9CB-43C7-BE90-8F58AEFC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628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固件闭环</a:t>
            </a:r>
          </a:p>
        </p:txBody>
      </p:sp>
      <p:sp>
        <p:nvSpPr>
          <p:cNvPr id="24" name="block-cell-1-1">
            <a:extLst xmlns:a="http://schemas.openxmlformats.org/drawingml/2006/main">
              <a:ext uri="{FF2B5EF4-FFF2-40B4-BE49-F238E27FC236}">
                <a16:creationId xmlns:a16="http://schemas.microsoft.com/office/drawing/2014/main" id="{B2895E03-E4CE-4152-8754-D64AF4F2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4105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block-cell-text-1-1">
            <a:extLst xmlns:a="http://schemas.openxmlformats.org/drawingml/2006/main">
              <a:ext uri="{FF2B5EF4-FFF2-40B4-BE49-F238E27FC236}">
                <a16:creationId xmlns:a16="http://schemas.microsoft.com/office/drawing/2014/main" id="{FA4FE560-8359-40ED-B9D8-12693177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57600"/>
            <a:ext cx="3914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仅回传 J1；pc_data 未驱动电机</a:t>
            </a:r>
          </a:p>
        </p:txBody>
      </p:sp>
      <p:sp>
        <p:nvSpPr>
          <p:cNvPr id="26" name="block-cell-1-2">
            <a:extLst xmlns:a="http://schemas.openxmlformats.org/drawingml/2006/main">
              <a:ext uri="{FF2B5EF4-FFF2-40B4-BE49-F238E27FC236}">
                <a16:creationId xmlns:a16="http://schemas.microsoft.com/office/drawing/2014/main" id="{2F0C8145-2C3B-4378-8FA6-259DCC89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block-cell-text-1-2">
            <a:extLst xmlns:a="http://schemas.openxmlformats.org/drawingml/2006/main">
              <a:ext uri="{FF2B5EF4-FFF2-40B4-BE49-F238E27FC236}">
                <a16:creationId xmlns:a16="http://schemas.microsoft.com/office/drawing/2014/main" id="{CB7B7F2E-4A8E-4DE9-8032-15289F71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 关节命令/遥测、ACK、看门狗</a:t>
            </a:r>
          </a:p>
        </p:txBody>
      </p:sp>
      <p:sp>
        <p:nvSpPr>
          <p:cNvPr id="28" name="block-cell-1-3">
            <a:extLst xmlns:a="http://schemas.openxmlformats.org/drawingml/2006/main">
              <a:ext uri="{FF2B5EF4-FFF2-40B4-BE49-F238E27FC236}">
                <a16:creationId xmlns:a16="http://schemas.microsoft.com/office/drawing/2014/main" id="{B264051C-8032-46F3-8DDB-7C3E3780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block-cell-text-1-3">
            <a:extLst xmlns:a="http://schemas.openxmlformats.org/drawingml/2006/main">
              <a:ext uri="{FF2B5EF4-FFF2-40B4-BE49-F238E27FC236}">
                <a16:creationId xmlns:a16="http://schemas.microsoft.com/office/drawing/2014/main" id="{198BEFDF-174C-45C8-B8A9-A33A08F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失控或不可验证</a:t>
            </a:r>
          </a:p>
        </p:txBody>
      </p:sp>
      <p:sp>
        <p:nvSpPr>
          <p:cNvPr id="30" name="block-cell-2-0">
            <a:extLst xmlns:a="http://schemas.openxmlformats.org/drawingml/2006/main">
              <a:ext uri="{FF2B5EF4-FFF2-40B4-BE49-F238E27FC236}">
                <a16:creationId xmlns:a16="http://schemas.microsoft.com/office/drawing/2014/main" id="{42141F7E-B463-49B3-B150-B340F5C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819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block-cell-text-2-0">
            <a:extLst xmlns:a="http://schemas.openxmlformats.org/drawingml/2006/main">
              <a:ext uri="{FF2B5EF4-FFF2-40B4-BE49-F238E27FC236}">
                <a16:creationId xmlns:a16="http://schemas.microsoft.com/office/drawing/2014/main" id="{7BBD3651-81F3-44A8-99F8-CEA63E67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628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关节映射</a:t>
            </a:r>
          </a:p>
        </p:txBody>
      </p:sp>
      <p:sp>
        <p:nvSpPr>
          <p:cNvPr id="32" name="block-cell-2-1">
            <a:extLst xmlns:a="http://schemas.openxmlformats.org/drawingml/2006/main">
              <a:ext uri="{FF2B5EF4-FFF2-40B4-BE49-F238E27FC236}">
                <a16:creationId xmlns:a16="http://schemas.microsoft.com/office/drawing/2014/main" id="{7BAB9C64-1F0D-4E56-BC4A-795452F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67200"/>
            <a:ext cx="4105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block-cell-text-2-1">
            <a:extLst xmlns:a="http://schemas.openxmlformats.org/drawingml/2006/main">
              <a:ext uri="{FF2B5EF4-FFF2-40B4-BE49-F238E27FC236}">
                <a16:creationId xmlns:a16="http://schemas.microsoft.com/office/drawing/2014/main" id="{B3397692-5E20-42B3-9C50-FC6625F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62450"/>
            <a:ext cx="3914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CAN ID、路由和方向端点已知</a:t>
            </a:r>
          </a:p>
        </p:txBody>
      </p:sp>
      <p:sp>
        <p:nvSpPr>
          <p:cNvPr id="34" name="block-cell-2-2">
            <a:extLst xmlns:a="http://schemas.openxmlformats.org/drawingml/2006/main">
              <a:ext uri="{FF2B5EF4-FFF2-40B4-BE49-F238E27FC236}">
                <a16:creationId xmlns:a16="http://schemas.microsoft.com/office/drawing/2014/main" id="{B61F10DE-208A-4438-8ECE-224E5EBE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block-cell-text-2-2">
            <a:extLst xmlns:a="http://schemas.openxmlformats.org/drawingml/2006/main">
              <a:ext uri="{FF2B5EF4-FFF2-40B4-BE49-F238E27FC236}">
                <a16:creationId xmlns:a16="http://schemas.microsoft.com/office/drawing/2014/main" id="{E85D3902-4C52-49AD-A929-EF5C590B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机械零位、符号、偏置与低速实测</a:t>
            </a:r>
          </a:p>
        </p:txBody>
      </p:sp>
      <p:sp>
        <p:nvSpPr>
          <p:cNvPr id="36" name="block-cell-2-3">
            <a:extLst xmlns:a="http://schemas.openxmlformats.org/drawingml/2006/main">
              <a:ext uri="{FF2B5EF4-FFF2-40B4-BE49-F238E27FC236}">
                <a16:creationId xmlns:a16="http://schemas.microsoft.com/office/drawing/2014/main" id="{8DA8DC30-9BEA-4682-A22F-EAC3DA54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block-cell-text-2-3">
            <a:extLst xmlns:a="http://schemas.openxmlformats.org/drawingml/2006/main">
              <a:ext uri="{FF2B5EF4-FFF2-40B4-BE49-F238E27FC236}">
                <a16:creationId xmlns:a16="http://schemas.microsoft.com/office/drawing/2014/main" id="{4547FFB5-B3B5-4AD7-BEC6-A1163CB6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6245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越限 / 碰撞</a:t>
            </a:r>
          </a:p>
        </p:txBody>
      </p:sp>
      <p:sp>
        <p:nvSpPr>
          <p:cNvPr id="38" name="block-cell-3-0">
            <a:extLst xmlns:a="http://schemas.openxmlformats.org/drawingml/2006/main">
              <a:ext uri="{FF2B5EF4-FFF2-40B4-BE49-F238E27FC236}">
                <a16:creationId xmlns:a16="http://schemas.microsoft.com/office/drawing/2014/main" id="{B79BE8E6-A4F4-4236-8982-D09C45E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1819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block-cell-text-3-0">
            <a:extLst xmlns:a="http://schemas.openxmlformats.org/drawingml/2006/main">
              <a:ext uri="{FF2B5EF4-FFF2-40B4-BE49-F238E27FC236}">
                <a16:creationId xmlns:a16="http://schemas.microsoft.com/office/drawing/2014/main" id="{4B2FF712-6698-444D-B09A-442D2D14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628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硬件安全</a:t>
            </a:r>
          </a:p>
        </p:txBody>
      </p:sp>
      <p:sp>
        <p:nvSpPr>
          <p:cNvPr id="40" name="block-cell-3-1">
            <a:extLst xmlns:a="http://schemas.openxmlformats.org/drawingml/2006/main">
              <a:ext uri="{FF2B5EF4-FFF2-40B4-BE49-F238E27FC236}">
                <a16:creationId xmlns:a16="http://schemas.microsoft.com/office/drawing/2014/main" id="{D54AFFB9-BA58-47D4-AD9B-1A29BE33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72050"/>
            <a:ext cx="41052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block-cell-text-3-1">
            <a:extLst xmlns:a="http://schemas.openxmlformats.org/drawingml/2006/main">
              <a:ext uri="{FF2B5EF4-FFF2-40B4-BE49-F238E27FC236}">
                <a16:creationId xmlns:a16="http://schemas.microsoft.com/office/drawing/2014/main" id="{EAC35239-5193-415F-A972-FFA4D5F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67300"/>
            <a:ext cx="3914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3.3V TTL、115200 已确认</a:t>
            </a:r>
          </a:p>
        </p:txBody>
      </p:sp>
      <p:sp>
        <p:nvSpPr>
          <p:cNvPr id="42" name="block-cell-3-2">
            <a:extLst xmlns:a="http://schemas.openxmlformats.org/drawingml/2006/main">
              <a:ext uri="{FF2B5EF4-FFF2-40B4-BE49-F238E27FC236}">
                <a16:creationId xmlns:a16="http://schemas.microsoft.com/office/drawing/2014/main" id="{F3498409-DC03-441A-817C-096D49A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3086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block-cell-text-3-2">
            <a:extLst xmlns:a="http://schemas.openxmlformats.org/drawingml/2006/main">
              <a:ext uri="{FF2B5EF4-FFF2-40B4-BE49-F238E27FC236}">
                <a16:creationId xmlns:a16="http://schemas.microsoft.com/office/drawing/2014/main" id="{2394F455-63B5-45D2-ACE7-10C27CA4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USB-UART、物理急停、断电回路</a:t>
            </a:r>
          </a:p>
        </p:txBody>
      </p:sp>
      <p:sp>
        <p:nvSpPr>
          <p:cNvPr id="44" name="block-cell-3-3">
            <a:extLst xmlns:a="http://schemas.openxmlformats.org/drawingml/2006/main">
              <a:ext uri="{FF2B5EF4-FFF2-40B4-BE49-F238E27FC236}">
                <a16:creationId xmlns:a16="http://schemas.microsoft.com/office/drawing/2014/main" id="{2CBAAEA9-A6AD-401F-9DAE-B0296BB4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72050"/>
            <a:ext cx="2152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block-cell-text-3-3">
            <a:extLst xmlns:a="http://schemas.openxmlformats.org/drawingml/2006/main">
              <a:ext uri="{FF2B5EF4-FFF2-40B4-BE49-F238E27FC236}">
                <a16:creationId xmlns:a16="http://schemas.microsoft.com/office/drawing/2014/main" id="{2F850C7D-0039-46D7-8421-C07FCEDB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673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人员与设备风险</a:t>
            </a:r>
          </a:p>
        </p:txBody>
      </p:sp>
      <p:sp>
        <p:nvSpPr>
          <p:cNvPr id="46" name="blocker-conclusion">
            <a:extLst xmlns:a="http://schemas.openxmlformats.org/drawingml/2006/main">
              <a:ext uri="{FF2B5EF4-FFF2-40B4-BE49-F238E27FC236}">
                <a16:creationId xmlns:a16="http://schemas.microsoft.com/office/drawing/2014/main" id="{FDD80544-0A3E-43D3-8EAC-A63D188D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3737"/>
                </a:solidFill>
                <a:latin typeface="Microsoft YaHei"/>
                <a:ea typeface="Microsoft YaHei"/>
                <a:cs typeface="Microsoft YaHei"/>
              </a:rPr>
              <a:t>工程判断：保持只读与执行闭锁，是当前资料条件下正确的完成状态。</a:t>
            </a:r>
          </a:p>
        </p:txBody>
      </p:sp>
    </p:spTree>
    <p:extLst>
      <p:ext uri="{BB962C8B-B14F-4D97-AF65-F5344CB8AC3E}">
        <p14:creationId xmlns:p14="http://schemas.microsoft.com/office/powerpoint/2010/main" val="1365064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0">
            <a:extLst xmlns:a="http://schemas.openxmlformats.org/drawingml/2006/main">
              <a:ext uri="{FF2B5EF4-FFF2-40B4-BE49-F238E27FC236}">
                <a16:creationId xmlns:a16="http://schemas.microsoft.com/office/drawing/2014/main" id="{71433110-30FF-46DB-843A-34B220CA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OPENARM / UPPER COMPUTER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811BC74-AB1D-4DC4-AE36-B6F3207B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5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阶段结论：仿真闭环可验收，真机必须补齐接口后再开放</a:t>
            </a:r>
          </a:p>
        </p:txBody>
      </p:sp>
      <p:cxnSp>
        <p:nvCxnSpPr>
          <p:cNvPr id="28" name="rule-10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E8ABC75E-757C-4452-9FC9-28C5FA6B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close-left-title">
            <a:extLst xmlns:a="http://schemas.openxmlformats.org/drawingml/2006/main">
              <a:ext uri="{FF2B5EF4-FFF2-40B4-BE49-F238E27FC236}">
                <a16:creationId xmlns:a16="http://schemas.microsoft.com/office/drawing/2014/main" id="{A786973A-69E9-4B59-935F-8D6B8FF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6" name="close-done-dot-0">
            <a:extLst xmlns:a="http://schemas.openxmlformats.org/drawingml/2006/main">
              <a:ext uri="{FF2B5EF4-FFF2-40B4-BE49-F238E27FC236}">
                <a16:creationId xmlns:a16="http://schemas.microsoft.com/office/drawing/2014/main" id="{DA7BEC2A-7C3D-4287-8B2C-2D495AEB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7" name="close-done-text-0">
            <a:extLst xmlns:a="http://schemas.openxmlformats.org/drawingml/2006/main">
              <a:ext uri="{FF2B5EF4-FFF2-40B4-BE49-F238E27FC236}">
                <a16:creationId xmlns:a16="http://schemas.microsoft.com/office/drawing/2014/main" id="{17AC5460-A4F7-40C9-ABD5-AA6D54ED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统一上位机 GUI、消息、安全和状态机</a:t>
            </a:r>
          </a:p>
        </p:txBody>
      </p:sp>
      <p:sp>
        <p:nvSpPr>
          <p:cNvPr id="8" name="close-done-dot-1">
            <a:extLst xmlns:a="http://schemas.openxmlformats.org/drawingml/2006/main">
              <a:ext uri="{FF2B5EF4-FFF2-40B4-BE49-F238E27FC236}">
                <a16:creationId xmlns:a16="http://schemas.microsoft.com/office/drawing/2014/main" id="{2FB37690-817E-4807-A05D-CAC84F0E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close-done-text-1">
            <a:extLst xmlns:a="http://schemas.openxmlformats.org/drawingml/2006/main">
              <a:ext uri="{FF2B5EF4-FFF2-40B4-BE49-F238E27FC236}">
                <a16:creationId xmlns:a16="http://schemas.microsoft.com/office/drawing/2014/main" id="{B6516FCF-3435-4228-BEA7-D33E9CD6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MuJoCo 实时视觉与任务执行闭环</a:t>
            </a:r>
          </a:p>
        </p:txBody>
      </p:sp>
      <p:sp>
        <p:nvSpPr>
          <p:cNvPr id="10" name="close-done-dot-2">
            <a:extLst xmlns:a="http://schemas.openxmlformats.org/drawingml/2006/main">
              <a:ext uri="{FF2B5EF4-FFF2-40B4-BE49-F238E27FC236}">
                <a16:creationId xmlns:a16="http://schemas.microsoft.com/office/drawing/2014/main" id="{9AF2C733-4F48-4752-B633-90F6EEC2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close-done-text-2">
            <a:extLst xmlns:a="http://schemas.openxmlformats.org/drawingml/2006/main">
              <a:ext uri="{FF2B5EF4-FFF2-40B4-BE49-F238E27FC236}">
                <a16:creationId xmlns:a16="http://schemas.microsoft.com/office/drawing/2014/main" id="{321C0DB8-EA0B-4254-A2C0-D241FFFF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真机视觉监视、USART10 工具与资料审查</a:t>
            </a:r>
          </a:p>
        </p:txBody>
      </p:sp>
      <p:sp>
        <p:nvSpPr>
          <p:cNvPr id="12" name="close-done-dot-3">
            <a:extLst xmlns:a="http://schemas.openxmlformats.org/drawingml/2006/main">
              <a:ext uri="{FF2B5EF4-FFF2-40B4-BE49-F238E27FC236}">
                <a16:creationId xmlns:a16="http://schemas.microsoft.com/office/drawing/2014/main" id="{0CAE684D-5C8C-4970-86E9-4FE057FA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close-done-text-3">
            <a:extLst xmlns:a="http://schemas.openxmlformats.org/drawingml/2006/main">
              <a:ext uri="{FF2B5EF4-FFF2-40B4-BE49-F238E27FC236}">
                <a16:creationId xmlns:a16="http://schemas.microsoft.com/office/drawing/2014/main" id="{3E47B431-F6A0-471E-B699-42300250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28 项测试、运行日志和演示手册</a:t>
            </a:r>
          </a:p>
        </p:txBody>
      </p:sp>
      <p:cxnSp>
        <p:nvCxnSpPr>
          <p:cNvPr id="39" name="close-divider"/>
          <p:cNvCxnSpPr/>
          <p:nvPr/>
        </p:nvCxnSpPr>
        <p:spPr>
          <a:xfrm xmlns:a="http://schemas.openxmlformats.org/drawingml/2006/main">
            <a:off x="5962650" y="1828800"/>
            <a:ext cx="0" cy="3409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close-right-title">
            <a:extLst xmlns:a="http://schemas.openxmlformats.org/drawingml/2006/main">
              <a:ext uri="{FF2B5EF4-FFF2-40B4-BE49-F238E27FC236}">
                <a16:creationId xmlns:a16="http://schemas.microsoft.com/office/drawing/2014/main" id="{4207506D-7777-40FB-AFCE-3F363E5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真机开放前的四道门槛</a:t>
            </a:r>
          </a:p>
        </p:txBody>
      </p:sp>
      <p:sp>
        <p:nvSpPr>
          <p:cNvPr id="16" name="gate-num-0">
            <a:extLst xmlns:a="http://schemas.openxmlformats.org/drawingml/2006/main">
              <a:ext uri="{FF2B5EF4-FFF2-40B4-BE49-F238E27FC236}">
                <a16:creationId xmlns:a16="http://schemas.microsoft.com/office/drawing/2014/main" id="{E6E3AB08-1D28-42B1-82C5-2DB209D4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gate-text-0">
            <a:extLst xmlns:a="http://schemas.openxmlformats.org/drawingml/2006/main">
              <a:ext uri="{FF2B5EF4-FFF2-40B4-BE49-F238E27FC236}">
                <a16:creationId xmlns:a16="http://schemas.microsoft.com/office/drawing/2014/main" id="{716FAD35-A88A-437C-91B4-6CEA9A9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4317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 D435i 内参与手眼标定</a:t>
            </a:r>
          </a:p>
        </p:txBody>
      </p:sp>
      <p:sp>
        <p:nvSpPr>
          <p:cNvPr id="18" name="gate-num-1">
            <a:extLst xmlns:a="http://schemas.openxmlformats.org/drawingml/2006/main">
              <a:ext uri="{FF2B5EF4-FFF2-40B4-BE49-F238E27FC236}">
                <a16:creationId xmlns:a16="http://schemas.microsoft.com/office/drawing/2014/main" id="{AD884C16-C5F3-4933-8F4A-48B33C12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770ACB54-C425-44A5-B1D7-6828A84F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升级固件为 7 关节命令/遥测闭环</a:t>
            </a:r>
          </a:p>
        </p:txBody>
      </p:sp>
      <p:sp>
        <p:nvSpPr>
          <p:cNvPr id="20" name="gate-num-2">
            <a:extLst xmlns:a="http://schemas.openxmlformats.org/drawingml/2006/main">
              <a:ext uri="{FF2B5EF4-FFF2-40B4-BE49-F238E27FC236}">
                <a16:creationId xmlns:a16="http://schemas.microsoft.com/office/drawing/2014/main" id="{6AD7C302-64F0-4026-BCBE-51467CD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gate-text-2">
            <a:extLst xmlns:a="http://schemas.openxmlformats.org/drawingml/2006/main">
              <a:ext uri="{FF2B5EF4-FFF2-40B4-BE49-F238E27FC236}">
                <a16:creationId xmlns:a16="http://schemas.microsoft.com/office/drawing/2014/main" id="{232F16D5-C4DD-4B24-B1D4-449FB030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5287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低速确认零位、方向、偏置与限位</a:t>
            </a:r>
          </a:p>
        </p:txBody>
      </p:sp>
      <p:sp>
        <p:nvSpPr>
          <p:cNvPr id="22" name="gate-num-3">
            <a:extLst xmlns:a="http://schemas.openxmlformats.org/drawingml/2006/main">
              <a:ext uri="{FF2B5EF4-FFF2-40B4-BE49-F238E27FC236}">
                <a16:creationId xmlns:a16="http://schemas.microsoft.com/office/drawing/2014/main" id="{8D886D0C-02AE-4CE7-ACE2-F2CE3F11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gate-text-3">
            <a:extLst xmlns:a="http://schemas.openxmlformats.org/drawingml/2006/main">
              <a:ext uri="{FF2B5EF4-FFF2-40B4-BE49-F238E27FC236}">
                <a16:creationId xmlns:a16="http://schemas.microsoft.com/office/drawing/2014/main" id="{265681F4-6769-4523-B7C4-0E0BE588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5772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验证物理急停、看门狗、ACK 与故障恢复</a:t>
            </a:r>
          </a:p>
        </p:txBody>
      </p:sp>
      <p:sp>
        <p:nvSpPr>
          <p:cNvPr id="24" name="close-final-panel">
            <a:extLst xmlns:a="http://schemas.openxmlformats.org/drawingml/2006/main">
              <a:ext uri="{FF2B5EF4-FFF2-40B4-BE49-F238E27FC236}">
                <a16:creationId xmlns:a16="http://schemas.microsoft.com/office/drawing/2014/main" id="{C2EB2876-969D-46B6-AA91-B40E7ACC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1010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ose-final">
            <a:extLst xmlns:a="http://schemas.openxmlformats.org/drawingml/2006/main">
              <a:ext uri="{FF2B5EF4-FFF2-40B4-BE49-F238E27FC236}">
                <a16:creationId xmlns:a16="http://schemas.microsoft.com/office/drawing/2014/main" id="{8B3993A1-12E5-4541-AA7C-99907029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下一阶段路线：标定 → 固件闭环 → 单关节低速 → 七关节联调 → 视觉抓取</a:t>
            </a:r>
          </a:p>
        </p:txBody>
      </p:sp>
    </p:spTree>
    <p:extLst>
      <p:ext uri="{BB962C8B-B14F-4D97-AF65-F5344CB8AC3E}">
        <p14:creationId xmlns:p14="http://schemas.microsoft.com/office/powerpoint/2010/main" val="1807936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2026-08-26T13:59:53.1350000Z</dcterms:created>
  <dcterms:modified xsi:type="dcterms:W3CDTF">2026-08-26T13:59:53.1350000Z</dcterms:modified>
</coreProperties>
</file>